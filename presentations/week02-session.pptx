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notesMasterIdLst>
    <p:notesMasterId r:id="rId9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notesMaster" Target="notesMasters/notesMaster1.xml"/><Relationship Id="rId99" Type="http://schemas.openxmlformats.org/officeDocument/2006/relationships/presProps" Target="presProps.xml"/><Relationship Id="rId100" Type="http://schemas.openxmlformats.org/officeDocument/2006/relationships/viewProps" Target="viewProps.xml"/><Relationship Id="rId101" Type="http://schemas.openxmlformats.org/officeDocument/2006/relationships/theme" Target="theme/theme1.xml"/><Relationship Id="rId10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prelecture; source Block A, slide 3.
SOURCES:
Course — [Week 2 prep](../prep.md)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logistics; source Block A, slide 4.
SOURCES:
Course — [syllabus](../../../docs/new_syllabus.md) · [course map](../../../docs/course-map.md)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6.
SOURCES:
AWS — [Service disruption in the N. Virginia (us-east-1) Region, 19–20 October 2025](https://aws.amazon.com/message/101925/)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7.
SOURCES:
Julia Evans — [New Zine: How DNS Works!](https://jvns.ca/blog/2022/04/26/new-zine--how-dns-works-/)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14.
SOURCES:
IETF — [RFC 1034, Domain Names: Concepts and Facilities](https://www.rfc-editor.org/rfc/rfc1034.html)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19.
PLAIN-TEXT COMMANDS:
Copy from here or the Markdown/HTML source; colored PowerPoint code uses nonbreaking spaces for layout.
dscacheutil -q host -a name docs.github.com
dns-sd -G v4 docs.github.com
# Ctrl+C after an Add row, or if no result appears after 10 s.
sleep 5
dns-sd -G v4 docs.github.com
# Ctrl+C again after recording the address and TTL.
SOURCES:
Apple — [dns-sd implementation and address/TTL output](https://github.com/apple-oss-distributions/mDNSResponder/blob/main/Clients/dns-sd.c)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20.
PLAIN-TEXT COMMANDS:
Copy from here or the Markdown/HTML source; colored PowerPoint code uses nonbreaking spaces for layout.
Resolve-DnsName docs.github.com -Type A -DnsOnly | Out-Null
1..6 | ForEach-Object {
  (Get-Date).ToUniversalTime().ToString('HH:mm:ss')
  Get-DnsClientCache -Entry docs.github.com |
    Where-Object Type -eq 1 |
    Select-Object Entry, TimeToLive, Data
  Start-Sleep -Seconds 5
}
SOURCES:
Microsoft — [`Get-DnsClientCache`](https://learn.microsoft.com/powershell/module/dnsclient/get-dnsclientcache)
Course — [recorded countdown](../samples/os-cache-ttl-windows.txt)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21.
PLAIN-TEXT COMMANDS:
Copy from here or the Markdown/HTML source; colored PowerPoint code uses nonbreaking spaces for layout.
name='depaul.edu'
dig "@1.1.1.1" "$name" A
dig "@8.8.8.8" "$name"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22.
PLAIN-TEXT COMMANDS:
Copy from here or the Markdown/HTML source; colored PowerPoint code uses nonbreaking spaces for layout.
$name = 'depaul.edu'
Resolve-DnsName $name -Type A -Server 1.1.1.1 -DnsOnly
Resolve-DnsName $name -Type A -Server 8.8.8.8 -DnsOnly
SOURCES:
Microsoft — [`Resolve-DnsName`](https://learn.microsoft.com/powershell/module/dnsclient/resolve-dnsname)
Course — [resolver comparison](../samples/dig-split-answers.txt)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23.
SOURCES:
Course — [split answers and provenance](../samples/dig-split-answers.txt)
IETF — [RFC 1034, caching](https://www.rfc-editor.org/rfc/rfc1034.html)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24.
SOURCES:
IETF — [RFC 1034 §4.3.4, caching](https://www.rfc-editor.org/rfc/rfc1034.html#section-4.3.4)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25.
PLAIN-TEXT COMMANDS:
Copy from here or the Markdown/HTML source; colored PowerPoint code uses nonbreaking spaces for layout.
cat ./weeks/week02/samples/os-cache-ttl-windows.txt
cat ./weeks/week02/samples/dig-split-answers.txt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27.
PLAIN-TEXT COMMANDS:
Copy from here or the Markdown/HTML source; colored PowerPoint code uses nonbreaking spaces for layout.
Get-Content .\weeks\week02\samples\os-cache-ttl-windows.txt
Get-Content .\weeks\week02\samples\dig-split-answers.txt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28.
SOURCES:
Julia Evans — [New Zine: How DNS Works!](https://jvns.ca/blog/2022/04/26/new-zine--how-dns-works-/)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29.
SOURCES:
IETF — [RFC 2308, Negative Caching of DNS Queries](https://www.rfc-editor.org/rfc/rfc2308.html)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33.
SOURCES:
IETF — [RFC 8484, DNS Queries over HTTPS](https://www.rfc-editor.org/rfc/rfc8484.html) · [RFC 7858, DNS over TLS](https://www.rfc-editor.org/rfc/rfc7858.html)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35.
SOURCES:
IETF — [RFC 2308, Negative Caching of DNS Queries](https://www.rfc-editor.org/rfc/rfc2308.html)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3.
SOURCES:
ICANN — [Registrar (official definition)](https://www.icann.org/en/icann-acronyms-and-terms/registrar-en)
Julia Evans — [New Zine: How DNS Works!](https://jvns.ca/blog/2022/04/26/new-zine--how-dns-works-/)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6.
SOURCES:
IETF — [RFC 1035 §3.3.13, SOA RDATA format](https://www.rfc-editor.org/rfc/rfc1035.html)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10.
SOURCES:
IETF — [RFC 8659, DNS Certification Authority Authorization](https://www.rfc-editor.org/rfc/rfc8659.html)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16.
SOURCES:
AWS — [Route 53 routing policies](https://docs.aws.amazon.com/Route53/latest/DeveloperGuide/routing-policy.html)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17.
SOURCES:
Slack Engineering — [What happened during Slack's DNSSEC rollout](https://slack.engineering/what-happened-during-slacks-dnssec-rollout/)
Cloudflare — [How DNSSEC works](https://www.cloudflare.com/learning/dns/dnssec/how-dnssec-works/)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19.
PLAIN-TEXT COMMANDS:
Copy from here or the Markdown/HTML source; colored PowerPoint code uses nonbreaking spaces for layout.
command -v dig
printf 'Delegated zone you own: '; read -r zone
label="csc436-$(uuidgen | tr 'A-F' 'a-f' | cut -c1-8)"
name="$label.$zone"
ns=$(dig +short NS "$zone" | head -n 1)
[ -n "$ns" ] || printf 'STOP: no nameserver; use offline evidence.\n'
printf 'label=%s\nname=%s\nserver=%s\n' "$label" "$name" "$ns"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20.
PLAIN-TEXT COMMANDS:
Copy from here or the Markdown/HTML source; colored PowerPoint code uses nonbreaking spaces for layout.
Get-Command dig
$zone = Read-Host 'Already delegated DNS zone you own'
$label = 'csc436-' + [guid]::NewGuid().ToString('N').Substring(0,8)
$name = "$label.$zone"
$ns = dig +short NS $zone | Select-Object -First 1
if (-not $ns) { throw 'No NS answer; use the offline fallback.' }
$label
$name
$ns
SOURCES:
Course — [owned-domain lab](../lab.md)
ISC — [`dig`](https://bind9.readthedocs.io/en/latest/manpages.html#dig-dns-lookup-utility)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21.
SOURCES:
IETF — [RFC 5737, documentation addresses](https://www.rfc-editor.org/rfc/rfc5737.html)
Course — [zone-change lab](../lab.md)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22.
PLAIN-TEXT COMMANDS:
Copy from here or the Markdown/HTML source; colored PowerPoint code uses nonbreaking spaces for layout.
date -u '+%Y-%m-%dT%H:%M:%SZ'
dig "@$ns" "$name" A +norecurse
dig "@1.1.1.1" "$name" A
dig "@8.8.8.8" "$name" A
sleep 30
dig "@1.1.1.1" "$name"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23.
PLAIN-TEXT COMMANDS:
Copy from here or the Markdown/HTML source; colored PowerPoint code uses nonbreaking spaces for layout.
(Get-Date).ToUniversalTime().ToString('o')
dig "@$ns" $name A +norecurse
dig "@1.1.1.1" $name A
dig "@8.8.8.8" $name A
Start-Sleep -Seconds 30
dig "@1.1.1.1" $name A
SOURCES:
Course — [recursive versus authoritative evidence](../samples/dig-recursive-vs-authoritative.txt)
IETF — [RFC 2308, negative caching](https://www.rfc-editor.org/rfc/rfc2308.html)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24.
SOURCES:
IETF — [RFC 2308 §5, caching negative answers](https://www.rfc-editor.org/rfc/rfc2308.html#section-5)
Course — [negative-cache evidence](../samples/dig-nxdomain.txt)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25.
SOURCES:
Course — [cutover and rollback exercise](../lab.md)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26.
PLAIN-TEXT COMMANDS:
Copy from here or the Markdown/HTML source; colored PowerPoint code uses nonbreaking spaces for layout.
dig "@$ns" "$name" A +norecurse
dig "@1.1.1.1" "$name"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27.
PLAIN-TEXT COMMANDS:
Copy from here or the Markdown/HTML source; colored PowerPoint code uses nonbreaking spaces for layout.
dig "@$ns" $name A +norecurse
dig "@1.1.1.1" $name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28.
PLAIN-TEXT COMMANDS:
Copy from here or the Markdown/HTML source; colored PowerPoint code uses nonbreaking spaces for layout.
samples='./weeks/week02/samples'
cat "$samples/dig-recursive-vs-authoritative.txt"
cat "$samples/dig-nxdomain.txt"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29.
PLAIN-TEXT COMMANDS:
Copy from here or the Markdown/HTML source; colored PowerPoint code uses nonbreaking spaces for layout.
$samples = '.\weeks\week02\samples'
Get-Content "$samples\dig-recursive-vs-authoritative.txt"
Get-Content "$samples\dig-nxdomain.txt"
SOURCES:
Course — [capture provenance](../samples/README.md)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30.
SOURCES:
ICANN — [Registrar (official definition)](https://www.icann.org/en/icann-acronyms-and-terms/registrar-en)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7.
SOURCES:
IETF — [RFC 9110 §15.4, Redirection 3xx](https://www.rfc-editor.org/rfc/rfc9110.html)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9.
SOURCES:
curl — [manual page, `--request`](https://curl.se/docs/manpage.html)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12.
SOURCES:
MDN — [X-Forwarded-Proto](https://developer.mozilla.org/en-US/docs/Web/HTTP/Reference/Headers/X-Forwarded-Proto)
IETF — [RFC 7239, Forwarded HTTP Extension](https://www.rfc-editor.org/rfc/rfc7239.html)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15.
PLAIN-TEXT COMMANDS:
Copy from here or the Markdown/HTML source; colored PowerPoint code uses nonbreaking spaces for layout.
# Default ports are 8081-8084.
# Busy? Add --port 9100; use 9100-9103 in ALL later requests.
node ./weeks/week02/samples/http-faults/fault-server.mjs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16.
PLAIN-TEXT COMMANDS:
Copy from here or the Markdown/HTML source; colored PowerPoint code uses nonbreaking spaces for layout.
# Expected on loopback: 8081 Host, 8082 redirect, 8083 app, 8084 proxy.
# Busy ports? Add --port 9100; use ports 9100-9103 in later commands.
node .\weeks\week02\samples\http-faults\fault-server.mjs
SOURCES:
Course — [HTTP fault server](../samples/http-faults/fault-server.mjs)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17.
PLAIN-TEXT COMMANDS:
Copy from here or the Markdown/HTML source; colored PowerPoint code uses nonbreaking spaces for layout.
printf '%s\r\n' 'GET /healthz HTTP/1.1' \
  'Host: status.campuspulse.example' 'Connection: close' '' |
  nc -w 5 127.0.0.1 8081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18.
PLAIN-TEXT COMMANDS:
Copy from here or the Markdown/HTML source; colored PowerPoint code uses nonbreaking spaces for layout.
$c = [Net.Sockets.TcpClient]::new('127.0.0.1', 8081)
$c.ReceiveTimeout = 5000
try {
  $s = $c.GetStream()
  $req = "GET /healthz HTTP/1.1`r`nHost: "
  $req += "status.campuspulse.example`r`nConnection: close`r`n`r`n"
  $b = [Text.Encoding]::ASCII.GetBytes($req)
  $s.Write($b, 0, $b.Length)
  [IO.StreamReader]::new($s).ReadToEnd()
} finally { $c.Dispose() }
SOURCES:
Course — [raw-request lab](../lab.md)
IETF — [RFC 9112 §2.1, message format](https://www.rfc-editor.org/rfc/rfc9112.html#section-2.1)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19.
PLAIN-TEXT COMMANDS:
Copy from here or the Markdown/HTML source; colored PowerPoint code uses nonbreaking spaces for layout.
url='http://127.0.0.1:8081/healthz'
curl --noproxy '*' -i --max-time 5 "$url" \
  -H 'Host: status.campuspulse.example'
curl --noproxy '*' -i --max-time 5 "$url" \
  -H 'Host: www.campuspulse.example'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20.
PLAIN-TEXT COMMANDS:
Copy from here or the Markdown/HTML source; colored PowerPoint code uses nonbreaking spaces for layout.
$url = 'http://127.0.0.1:8081/healthz'
curl.exe --noproxy '*' -i --max-time 5 $url `
  -H 'Host: status.campuspulse.example'
curl.exe --noproxy '*' -i --max-time 5 $url `
  -H 'Host: www.campuspulse.example'
SOURCES:
Course — [host-routing capture](../samples/http-faults/fault-1-host-header.txt)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21.
PLAIN-TEXT COMMANDS:
Copy from here or the Markdown/HTML source; colored PowerPoint code uses nonbreaking spaces for layout.
base='http://127.0.0.1:8082'
curl --noproxy '*' -v -L --max-redirs 4 --max-time 5 \
  -d 'service=library-wifi' "$base/legacy/incidents"
curl --noproxy '*' -v --max-time 5 \
  -d 'service=library-wifi' "$base/api/incidents"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22.
PLAIN-TEXT COMMANDS:
Copy from here or the Markdown/HTML source; colored PowerPoint code uses nonbreaking spaces for layout.
$base = 'http://127.0.0.1:8082'
curl.exe --noproxy '*' -v -L --max-redirs 4 --max-time 5 `
  -d 'service=library-wifi' "$base/legacy/incidents"
curl.exe --noproxy '*' -v --max-time 5 `
  -d 'service=library-wifi' "$base/api/incidents"
SOURCES:
Course — [redirect and method capture](../samples/http-faults/fault-2-redirect-chain.txt)
curl — [redirect behavior](https://curl.se/docs/manpage.html)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23.
SOURCES:
IETF — [RFC 9110 §15.4.3, 302](https://www.rfc-editor.org/rfc/rfc9110.html#section-15.4.3)
Course — [fault implementation](../samples/http-faults/fault-server.mjs)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24.
PLAIN-TEXT COMMANDS:
Copy from here or the Markdown/HTML source; colored PowerPoint code uses nonbreaking spaces for layout.
curl --noproxy '*' -I -L --max-redirs 3 --max-time 5 \
  http://127.0.0.1:8084/healthz
curl --noproxy '*' -i --max-time 5 \
  http://127.0.0.1:8083/healthz -H 'X-Forwarded-Proto: https'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25.
PLAIN-TEXT COMMANDS:
Copy from here or the Markdown/HTML source; colored PowerPoint code uses nonbreaking spaces for layout.
curl.exe --noproxy '*' -I -L --max-redirs 3 --max-time 5 `
  http://127.0.0.1:8084/healthz
curl.exe --noproxy '*' -i --max-time 5 `
  http://127.0.0.1:8083/healthz -H 'X-Forwarded-Proto: https'
SOURCES:
Course — [proxy-header capture](../samples/http-faults/fault-3-x-forwarded-proto.txt)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26.
PLAIN-TEXT COMMANDS:
Copy from here or the Markdown/HTML source; colored PowerPoint code uses nonbreaking spaces for layout.
samples='./weeks/week02/samples/http-faults'
cat "$samples/fault-1-host-header.txt"
cat "$samples/fault-2-redirect-chain.txt"
cat "$samples/fault-3-x-forwarded-proto.txt"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27.
PLAIN-TEXT COMMANDS:
Copy from here or the Markdown/HTML source; colored PowerPoint code uses nonbreaking spaces for layout.
$samples = '.\weeks\week02\samples\http-faults'
Get-Content "$samples\fault-1-host-header.txt"
Get-Content "$samples\fault-2-redirect-chain.txt"
Get-Content "$samples\fault-3-x-forwarded-proto.txt"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28.
SOURCES:
IETF — [RFC 9110, HTTP Semantics](https://www.rfc-editor.org/rfc/rfc9110.html)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practice; source Block C, slide 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homework; source Block C, slide 30.
SOURCES:
Course — [HW2 handout](../homework.md) · [evidence standard](../../../docs/evidence-standard.md)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closing; source Block C, slide 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../pre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../../../docs/new_syllabus.md" TargetMode="External"/><Relationship Id="rId2" Type="http://schemas.openxmlformats.org/officeDocument/2006/relationships/hyperlink" Target="../../../docs/course-map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ws.amazon.com/message/101925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vns.ca/blog/2022/04/26/new-zine--how-dns-works-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1034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pple-oss-distributions/mDNSResponder/blob/main/Clients/dns-sd.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dnsclient/get-dnsclientcache" TargetMode="External"/><Relationship Id="rId2" Type="http://schemas.openxmlformats.org/officeDocument/2006/relationships/hyperlink" Target="../samples/os-cache-ttl-window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dnsclient/resolve-dnsname" TargetMode="External"/><Relationship Id="rId2" Type="http://schemas.openxmlformats.org/officeDocument/2006/relationships/hyperlink" Target="../samples/dig-split-answer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../samples/dig-split-answers.txt" TargetMode="External"/><Relationship Id="rId2" Type="http://schemas.openxmlformats.org/officeDocument/2006/relationships/hyperlink" Target="https://www.rfc-editor.org/rfc/rfc1034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1034.html#section-4.3.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jvns.ca/blog/2022/04/26/new-zine--how-dns-works-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230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8484.html" TargetMode="External"/><Relationship Id="rId2" Type="http://schemas.openxmlformats.org/officeDocument/2006/relationships/hyperlink" Target="https://www.rfc-editor.org/rfc/rfc7858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230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cann.org/en/icann-acronyms-and-terms/registrar-en" TargetMode="External"/><Relationship Id="rId2" Type="http://schemas.openxmlformats.org/officeDocument/2006/relationships/hyperlink" Target="https://jvns.ca/blog/2022/04/26/new-zine--how-dns-works-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103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8659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aws.amazon.com/Route53/latest/DeveloperGuide/routing-policy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hyperlink" Target="https://slack.engineering/what-happened-during-slacks-dnssec-rollout/" TargetMode="External"/><Relationship Id="rId2" Type="http://schemas.openxmlformats.org/officeDocument/2006/relationships/hyperlink" Target="https://www.cloudflare.com/learning/dns/dnssec/how-dnssec-work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https://bind9.readthedocs.io/en/latest/manpages.html#dig-dns-lookup-utilit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5737.html" TargetMode="External"/><Relationship Id="rId2" Type="http://schemas.openxmlformats.org/officeDocument/2006/relationships/hyperlink" Target="../lab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hyperlink" Target="../samples/dig-recursive-vs-authoritative.txt" TargetMode="External"/><Relationship Id="rId2" Type="http://schemas.openxmlformats.org/officeDocument/2006/relationships/hyperlink" Target="https://www.rfc-editor.org/rfc/rfc2308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2308.html#section-5" TargetMode="External"/><Relationship Id="rId2" Type="http://schemas.openxmlformats.org/officeDocument/2006/relationships/hyperlink" Target="../samples/dig-nxdomain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cann.org/en/icann-acronyms-and-terms/registrar-e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110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hyperlink" Target="https://curl.se/docs/manpag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HTTP/Reference/Headers/X-Forwarded-Proto" TargetMode="External"/><Relationship Id="rId2" Type="http://schemas.openxmlformats.org/officeDocument/2006/relationships/hyperlink" Target="https://www.rfc-editor.org/rfc/rfc7239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hyperlink" Target="../samples/http-faults/fault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https://www.rfc-editor.org/rfc/rfc9112.html#section-2.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hyperlink" Target="../samples/http-faults/fault-1-host-header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http-faults/fault-2-redirect-chain.txt" TargetMode="External"/><Relationship Id="rId2" Type="http://schemas.openxmlformats.org/officeDocument/2006/relationships/hyperlink" Target="https://curl.se/docs/manpage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110.html#section-15.4.3" TargetMode="External"/><Relationship Id="rId2" Type="http://schemas.openxmlformats.org/officeDocument/2006/relationships/hyperlink" Target="../samples/http-faults/fault-server.mj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hyperlink" Target="../samples/http-faults/fault-3-x-forwarded-proto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110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hyperlink" Target="../homework.md" TargetMode="External"/><Relationship Id="rId2" Type="http://schemas.openxmlformats.org/officeDocument/2006/relationships/hyperlink" Target="../homework.md" TargetMode="External"/><Relationship Id="rId3" Type="http://schemas.openxmlformats.org/officeDocument/2006/relationships/hyperlink" Target="../../../docs/evidence-standard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hyperlink" Target="../../week03/pre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09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DNS: Turning a Name into an Address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43350"/>
            <a:ext cx="8953500" cy="857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Review, preparation, logistics, teaching, individual practice, and the end-of-class brief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58127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58127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· Full session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1375" y="4991100"/>
            <a:ext cx="153352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1375" y="4991100"/>
            <a:ext cx="153352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2026-09-05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Recall the Week 1 journey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Retrieve the evidence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did name lookup fit in a fresh visit to a website?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did the socket table reveal about "works on localhost"?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observation changed your first explanation?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Bring that method forward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117598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control a domain or an assigned subdomain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what you can change and where you manage it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identify who answers a name lookup and who remembers the answer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Prelecture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230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5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tonight's prep already told you</a:t>
            </a:r>
            <a:endParaRPr lang="en-US" sz="3459" dirty="0"/>
          </a:p>
        </p:txBody>
      </p:sp>
      <p:sp>
        <p:nvSpPr>
          <p:cNvPr id="7" name="Text 5"/>
          <p:cNvSpPr/>
          <p:nvPr/>
        </p:nvSpPr>
        <p:spPr>
          <a:xfrm>
            <a:off x="685800" y="1431633"/>
            <a:ext cx="10820400" cy="28364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watched: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sequence of servers a query touches, stub to root to authoritative</a:t>
            </a:r>
            <a:endParaRPr lang="en-US" sz="197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read: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recursive/authoritative distinction, the DNS record reference table, and the registrar/registry/DNS-host distinction</a:t>
            </a:r>
            <a:endParaRPr lang="en-US" sz="197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predicted (readiness check):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why a colleague sees an old value minutes after your change — "propagation" is not an accepted answer here</a:t>
            </a:r>
            <a:endParaRPr lang="en-US" sz="197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gives the mechanism: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which flags prove recursive vs. iterative, and which cache is holding that old answer</a:t>
            </a:r>
            <a:endParaRPr lang="en-US" sz="197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vs. DNS 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returns properly in Block B, when you edit your own zone</a:t>
            </a:r>
            <a:endParaRPr lang="en-US" sz="1977" dirty="0"/>
          </a:p>
        </p:txBody>
      </p:sp>
      <p:sp>
        <p:nvSpPr>
          <p:cNvPr id="8" name="Shape 6"/>
          <p:cNvSpPr/>
          <p:nvPr/>
        </p:nvSpPr>
        <p:spPr>
          <a:xfrm>
            <a:off x="685800" y="4377909"/>
            <a:ext cx="10820400" cy="1211570"/>
          </a:xfrm>
          <a:prstGeom prst="roundRect">
            <a:avLst>
              <a:gd name="adj" fmla="val 377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77909"/>
            <a:ext cx="76200" cy="121157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73159"/>
            <a:ext cx="10363200" cy="219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72381"/>
            <a:ext cx="10363200" cy="6418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5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"DNS propagation" was your instinct, today replaces it with a cache and a clock you can name.</a:t>
            </a:r>
            <a:endParaRPr lang="en-US" sz="1858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2 prep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week, operationally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3560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Tonight's lab needs your own domain.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If you used the Week 1 hardship path, your delegated subdomain works exactly the same way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solo work.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 zone, your registrar login, your cutover — no shared submissions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Milestone 2 — Architecture.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Today's zone plan and TTL decision go into it; Weeks 1–2 milestones are ungraded formative checkpoints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HW2 is assigned at the end of class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brief and rubric are on the closing slides, after Block 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syllabus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course map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one name, two correct answers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9:00 a.m. — the cutover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 moves from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203.0.113.10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.44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Maya's campus resolver still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.10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Luis asks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1.1.1.1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gets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.44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9:07 a.m. — inspect the clocks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Maya's cached answer has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 1127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public resolver's answer has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 58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"still propagating"; two caches forget on different schedules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57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0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failure was a name with no address</a:t>
            </a:r>
            <a:endParaRPr lang="en-US" sz="3709" dirty="0"/>
          </a:p>
        </p:txBody>
      </p:sp>
      <p:sp>
        <p:nvSpPr>
          <p:cNvPr id="7" name="Text 5"/>
          <p:cNvSpPr/>
          <p:nvPr/>
        </p:nvSpPr>
        <p:spPr>
          <a:xfrm>
            <a:off x="685800" y="1472895"/>
            <a:ext cx="10820400" cy="238585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Amazon's DynamoDB DNS automation hit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latent race condition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its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us-east-1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region</a:t>
            </a:r>
            <a:endParaRPr lang="en-US" sz="2119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result: an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DNS record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dynamodb.us-east-1.amazonaws.com</a:t>
            </a:r>
            <a:endParaRPr lang="en-US" sz="2119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automation that should have repaired it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could not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because the record looked intentional</a:t>
            </a:r>
            <a:endParaRPr lang="en-US" sz="2119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 errors ran 11:48 PM to 2:40 AM; the knock-on to NLB and EC2 ran until 2:20 PM</a:t>
            </a:r>
            <a:endParaRPr lang="en-US" sz="2119" dirty="0"/>
          </a:p>
        </p:txBody>
      </p:sp>
      <p:sp>
        <p:nvSpPr>
          <p:cNvPr id="8" name="Shape 6"/>
          <p:cNvSpPr/>
          <p:nvPr/>
        </p:nvSpPr>
        <p:spPr>
          <a:xfrm>
            <a:off x="685800" y="3976502"/>
            <a:ext cx="10820400" cy="1603919"/>
          </a:xfrm>
          <a:prstGeom prst="roundRect">
            <a:avLst>
              <a:gd name="adj" fmla="val 285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76502"/>
            <a:ext cx="76200" cy="160391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71752"/>
            <a:ext cx="10363200" cy="23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385692"/>
            <a:ext cx="10363200" cy="10322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9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server was down. No code was deployed. A name pointed at nothing, and every</a:t>
            </a:r>
            <a:endParaRPr lang="en-US" sz="1992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9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that depended on that name pointed at nothing too.</a:t>
            </a:r>
            <a:endParaRPr lang="en-US" sz="1992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 disruption in the N. Virginia (us-east-1) Region, 19–20 October 2025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8917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model in your head is probably a phone book</a:t>
            </a:r>
            <a:endParaRPr lang="en-US" sz="3664" dirty="0"/>
          </a:p>
        </p:txBody>
      </p:sp>
      <p:sp>
        <p:nvSpPr>
          <p:cNvPr id="7" name="Text 5"/>
          <p:cNvSpPr/>
          <p:nvPr/>
        </p:nvSpPr>
        <p:spPr>
          <a:xfrm>
            <a:off x="685800" y="1905891"/>
            <a:ext cx="10820400" cy="19928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phone book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book, held by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party, that you read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</a:t>
            </a:r>
            <a:endParaRPr lang="en-US" sz="209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is a distributed database with at least four independent caches on the path</a:t>
            </a:r>
            <a:endParaRPr lang="en-US" sz="209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holds the whole thing. Every participant knows only who to ask next</a:t>
            </a:r>
            <a:endParaRPr lang="en-US" sz="209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"the" answer to a name — there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answer, right now, from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resolver</a:t>
            </a:r>
            <a:endParaRPr lang="en-US" sz="2094" dirty="0"/>
          </a:p>
        </p:txBody>
      </p:sp>
      <p:sp>
        <p:nvSpPr>
          <p:cNvPr id="8" name="Shape 6"/>
          <p:cNvSpPr/>
          <p:nvPr/>
        </p:nvSpPr>
        <p:spPr>
          <a:xfrm>
            <a:off x="685800" y="4015079"/>
            <a:ext cx="10820400" cy="1566978"/>
          </a:xfrm>
          <a:prstGeom prst="roundRect">
            <a:avLst>
              <a:gd name="adj" fmla="val 2918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15079"/>
            <a:ext cx="76200" cy="1566978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10329"/>
            <a:ext cx="10363200" cy="232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THE MYTH WE KILL TODAY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421612"/>
            <a:ext cx="10363200" cy="10197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"DNS propagation." Nothing propagates. Nothing is pushed anywhere. Records are
</a:t>
            </a:r>
            <a:pPr algn="l" indent="0" marL="0">
              <a:lnSpc>
                <a:spcPct val="136000"/>
              </a:lnSpc>
              <a:buNone/>
            </a:pPr>
            <a:r>
              <a:rPr lang="en-US" sz="196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pulled</a:t>
            </a:r>
            <a:pPr algn="l" indent="0" marL="0">
              <a:lnSpc>
                <a:spcPct val="136000"/>
              </a:lnSpc>
              <a:buNone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demand and </a:t>
            </a:r>
            <a:pPr algn="l" indent="0" marL="0">
              <a:lnSpc>
                <a:spcPct val="136000"/>
              </a:lnSpc>
              <a:buNone/>
            </a:pPr>
            <a:r>
              <a:rPr lang="en-US" sz="196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cached</a:t>
            </a:r>
            <a:pPr algn="l" indent="0" marL="0">
              <a:lnSpc>
                <a:spcPct val="136000"/>
              </a:lnSpc>
              <a:buNone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a timer you chose.</a:t>
            </a:r>
            <a:endParaRPr lang="en-US" sz="1968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Julia Evans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Zine: How DNS Works!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is actually in the conversation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participants. The stub asks once; the recursive resolver does all the walking.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words that get swapped constantly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Recursive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"Answer this for me."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665476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laptop asks its resolver once and waits. It does not follow referrals.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4042410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</a:t>
            </a:r>
            <a:pPr algn="l" indent="0" marL="0">
              <a:lnSpc>
                <a:spcPct val="136000"/>
              </a:lnSpc>
              <a:buNone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desired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Iterative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286500" y="2117598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"Tell me who to ask next."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86500" y="2665476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resolver asks the root, then the TLD, then the authoritative server.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86500" y="3627882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for the service it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the queries it sends.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it by hand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questions, three servers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75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 — ask a root server. It refuses to answer.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1139"/>
            <a:ext cx="10820400" cy="3094930"/>
          </a:xfrm>
          <a:prstGeom prst="roundRect">
            <a:avLst>
              <a:gd name="adj" fmla="val 177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113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018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@a.root-servers.net depaul.edu A +norecurse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0719"/>
            <a:ext cx="10439400" cy="25196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@a.root-servers.net depaul.edu A +norecurse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-&gt;&gt;HEADER&lt;&lt;- opcode: QUERY, status: NOERROR, id: 56760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qr; QUERY: 1, ANSWER: 0, AUTHORITY: 13, ADDITIONAL: 27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SECTION: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edu.          172800  IN  NS  a.edu-servers.net.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edu.          172800  IN  NS  b.edu-servers.net.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  ... 11 more edu. nameservers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ADDITIONAL SECTION: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a.edu-servers.net.  172800  IN  A     192.5.6.30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SERVER: 198.41.0.4#53(a.root-servers.net) (UDP)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4804941"/>
            <a:ext cx="10820400" cy="1057887"/>
          </a:xfrm>
          <a:prstGeom prst="roundRect">
            <a:avLst>
              <a:gd name="adj" fmla="val 4322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804941"/>
            <a:ext cx="76200" cy="1057887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00191"/>
            <a:ext cx="1036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188608"/>
            <a:ext cx="10363200" cy="5791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 0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</a:t>
            </a:r>
            <a:pPr algn="l" indent="0" marL="0">
              <a:lnSpc>
                <a:spcPct val="136000"/>
              </a:lnSpc>
              <a:buNone/>
            </a:pPr>
            <a:r>
              <a:rPr lang="en-US" sz="17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 in AUTHORITY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</a:t>
            </a:r>
            <a:pPr algn="l" indent="0" marL="0">
              <a:lnSpc>
                <a:spcPct val="136000"/>
              </a:lnSpc>
              <a:buNone/>
            </a:pPr>
            <a:r>
              <a:rPr lang="en-US" sz="176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Flags are 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only — no
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this is not an authoritative answer.</a:t>
            </a:r>
            <a:endParaRPr lang="en-US" sz="1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17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4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2 — ask the TLD. It also refuses.</a:t>
            </a:r>
            <a:endParaRPr lang="en-US" sz="3349" dirty="0"/>
          </a:p>
        </p:txBody>
      </p:sp>
      <p:sp>
        <p:nvSpPr>
          <p:cNvPr id="7" name="Shape 5"/>
          <p:cNvSpPr/>
          <p:nvPr/>
        </p:nvSpPr>
        <p:spPr>
          <a:xfrm>
            <a:off x="685800" y="1323475"/>
            <a:ext cx="10820400" cy="3276047"/>
          </a:xfrm>
          <a:prstGeom prst="roundRect">
            <a:avLst>
              <a:gd name="adj" fmla="val 1675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347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4252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@a.edu-servers.net depaul.edu A +norecurse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73055"/>
            <a:ext cx="10439400" cy="2700737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@a.edu-servers.net depaul.edu A +norecurse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-&gt;&gt;HEADER&lt;&lt;- opcode: QUERY, status: NOERROR, id: 46795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qr; QUERY: 1, ANSWER: 0, AUTHORITY: 4, ADDITIONAL: 5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SECTION: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172800  IN  NS  ns1.depaul.edu.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172800  IN  NS  ns2.depaul.edu.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  ... ns3 and ns4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ADDITIONAL SECTION: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ns1.depaul.edu.  172800  IN  A  140.192.0.2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SERVER: 192.5.6.30#53(a.edu-servers.net) (UDP)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4721049"/>
            <a:ext cx="10820400" cy="1139125"/>
          </a:xfrm>
          <a:prstGeom prst="roundRect">
            <a:avLst>
              <a:gd name="adj" fmla="val 401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21049"/>
            <a:ext cx="76200" cy="113912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16299"/>
            <a:ext cx="10363200" cy="212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109030"/>
            <a:ext cx="10363200" cy="6581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delegation.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These NS records live in the </a:t>
            </a:r>
            <a:pPr algn="l" indent="0" marL="0">
              <a:lnSpc>
                <a:spcPct val="136000"/>
              </a:lnSpc>
              <a:buNone/>
            </a:pPr>
            <a:r>
              <a:rPr lang="en-US" sz="1799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zone (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edu.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</a:t>
            </a:r>
            <a:endParaRPr lang="en-US" sz="1799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in DePaul's. Changing nameservers means changing this.</a:t>
            </a:r>
            <a:endParaRPr lang="en-US" sz="179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02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8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3 — ask the authoritative server. Now you get an answer.</a:t>
            </a:r>
            <a:endParaRPr lang="en-US" sz="3283" dirty="0"/>
          </a:p>
        </p:txBody>
      </p:sp>
      <p:sp>
        <p:nvSpPr>
          <p:cNvPr id="7" name="Shape 5"/>
          <p:cNvSpPr/>
          <p:nvPr/>
        </p:nvSpPr>
        <p:spPr>
          <a:xfrm>
            <a:off x="685800" y="1614000"/>
            <a:ext cx="10820400" cy="3031251"/>
          </a:xfrm>
          <a:prstGeom prst="roundRect">
            <a:avLst>
              <a:gd name="adj" fmla="val 181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1400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3305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@ns1.depaul.edu depaul.edu A +norecurse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63580"/>
            <a:ext cx="10439400" cy="2455941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@ns1.depaul.edu depaul.edu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-&gt;&gt;HEADER&lt;&lt;- opcode: QUERY, status: NOERROR, id: 37664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aa; QUERY: 1, ANSWER: 1, AUTHORITY: 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ANSWER SECTION: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86400  IN  A   64.239.109.1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SECTION: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14400  IN  NS  ns1.depaul.edu.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SERVER: 140.192.0.2#53(ns1.depaul.edu) (UDP)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764359"/>
            <a:ext cx="10820400" cy="1098233"/>
          </a:xfrm>
          <a:prstGeom prst="roundRect">
            <a:avLst>
              <a:gd name="adj" fmla="val 416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64359"/>
            <a:ext cx="76200" cy="109823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59609"/>
            <a:ext cx="10363200" cy="20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148410"/>
            <a:ext cx="10363200" cy="6192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pPr algn="l" indent="0" marL="0">
              <a:lnSpc>
                <a:spcPct val="136000"/>
              </a:lnSpc>
              <a:buNone/>
            </a:pPr>
            <a:r>
              <a:rPr lang="en-US" sz="176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indent="0" marL="0">
              <a:lnSpc>
                <a:spcPct val="136000"/>
              </a:lnSpc>
              <a:buNone/>
            </a:pPr>
            <a:r>
              <a:rPr lang="en-US" sz="176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 answer</a:t>
            </a:r>
            <a:pPr algn="l" indent="0" marL="0">
              <a:lnSpc>
                <a:spcPct val="136000"/>
              </a:lnSpc>
              <a:buNone/>
            </a:pPr>
            <a:r>
              <a:rPr lang="en-US" sz="176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Only a server configured to hold this zone sets</a:t>
            </a:r>
            <a:endParaRPr lang="en-US" sz="1763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6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flag. It is the end of the chain.</a:t>
            </a:r>
            <a:endParaRPr lang="en-US" sz="176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76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+trace</a:t>
            </a:r>
            <a:pPr algn="l" indent="0" marL="0">
              <a:lnSpc>
                <a:spcPct val="112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does all three, and shows its work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2971"/>
            <a:ext cx="10820400" cy="3027591"/>
          </a:xfrm>
          <a:prstGeom prst="roundRect">
            <a:avLst>
              <a:gd name="adj" fmla="val 181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297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2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+trace depaul.edu A  (elided to the referral boundaries)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51"/>
            <a:ext cx="10439400" cy="2452281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+trace depaul.edu A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           516715 IN NS a.root-servers.net.      &lt;- root hints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Received from 1.1.1.1#53(1.1.1.1)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edu.        172800 IN NS a.edu-servers.net.       &lt;- root referral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Received from 192.33.4.12#53(c.root-servers.net)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172800 IN NS ns1.depaul.edu.          &lt;- edu referral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Received from 192.33.14.30#53(b.edu-servers.net)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IN A  64.239.109.1             &lt;- the answer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Received from 140.192.0.2#53(ns1.depaul.edu)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685800" y="4739434"/>
            <a:ext cx="10820400" cy="856694"/>
          </a:xfrm>
          <a:prstGeom prst="roundRect">
            <a:avLst>
              <a:gd name="adj" fmla="val 5337"/>
            </a:avLst>
          </a:prstGeom>
          <a:solidFill>
            <a:srgbClr val="10321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39434"/>
            <a:ext cx="76200" cy="856694"/>
          </a:xfrm>
          <a:prstGeom prst="rect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34684"/>
            <a:ext cx="1036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86EFA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✦  TIP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123101"/>
            <a:ext cx="10363200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+trace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bottom-up. The last 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 from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names the server that answered.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1034, Domain Names: Concepts and Facilities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answered? Two flags tell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recursive resolver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117598"/>
            <a:ext cx="52197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2567178"/>
            <a:ext cx="48387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rd ra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85555 IN A ...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986784"/>
            <a:ext cx="5219700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recursion available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is repeating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85555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counting down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authoritative server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286500" y="2117598"/>
            <a:ext cx="52197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89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7000" y="2567178"/>
            <a:ext cx="48387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@ns1...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aa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A ...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6500" y="3986784"/>
            <a:ext cx="5219700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holds the zone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will not recurse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86400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zone value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 that bites you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Nobody forgets on your schedule</a:t>
            </a:r>
            <a:endParaRPr lang="en-US" sz="4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caches, four clocks, four operators</a:t>
            </a:r>
            <a:endParaRPr lang="en-US" sz="4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controls it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you clear it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browser vendor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Restart, or net-internals/#dns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 stub cache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You, on your machine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ipconfig /flushdns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Recursive resolver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ISP, or Cloudflare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cannot. Wait.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CDN / edge resolver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CDN vendor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 purge, if offered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134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one cache expire, in real time</a:t>
            </a:r>
            <a:endParaRPr lang="en-US" sz="3319" dirty="0"/>
          </a:p>
        </p:txBody>
      </p:sp>
      <p:sp>
        <p:nvSpPr>
          <p:cNvPr id="7" name="Shape 5"/>
          <p:cNvSpPr/>
          <p:nvPr/>
        </p:nvSpPr>
        <p:spPr>
          <a:xfrm>
            <a:off x="685800" y="1318213"/>
            <a:ext cx="10820400" cy="3079646"/>
          </a:xfrm>
          <a:prstGeom prst="roundRect">
            <a:avLst>
              <a:gd name="adj" fmla="val 178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1821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3726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OS resolver cache — docs.github.com, zone TTL 30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67793"/>
            <a:ext cx="10439400" cy="250433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Clear-DnsClientCache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 docs.github.com -Type A | Out-Null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1..6 | % { Get-DnsClientCache -Entry docs.github.com;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5 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19:52:43Z  docs.github.com   TTL=  30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19:52:48Z  docs.github.com   TTL=  24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19:52:53Z  docs.github.com   TTL=  19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19:52:58Z  docs.github.com   TTL=  14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19:53:03Z  docs.github.com   TTL=   9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19:53:08Z  docs.github.com   TTL=   4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 TTL=0 the entry is evicted and the next lookup leaves the machine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518303"/>
            <a:ext cx="10820400" cy="1342954"/>
          </a:xfrm>
          <a:prstGeom prst="roundRect">
            <a:avLst>
              <a:gd name="adj" fmla="val 340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18303"/>
            <a:ext cx="76200" cy="134295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13553"/>
            <a:ext cx="10363200" cy="210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904523"/>
            <a:ext cx="10363200" cy="8628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TTL is not a hint and not a target. It is a countdown that started the moment</a:t>
            </a:r>
            <a:endParaRPr lang="en-US" sz="1783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cache was filled, and nothing you do at your DNS host restarts it.</a:t>
            </a:r>
            <a:endParaRPr lang="en-US" sz="178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1739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8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observe a native lookup</a:t>
            </a:r>
            <a:endParaRPr lang="en-US" sz="3984" dirty="0"/>
          </a:p>
        </p:txBody>
      </p:sp>
      <p:sp>
        <p:nvSpPr>
          <p:cNvPr id="7" name="Shape 5"/>
          <p:cNvSpPr/>
          <p:nvPr/>
        </p:nvSpPr>
        <p:spPr>
          <a:xfrm>
            <a:off x="685800" y="1540204"/>
            <a:ext cx="10820400" cy="2456824"/>
          </a:xfrm>
          <a:prstGeom prst="roundRect">
            <a:avLst>
              <a:gd name="adj" fmla="val 223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020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5925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internet; no administrator commands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89784"/>
            <a:ext cx="10439400" cy="188151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dscacheutil -q host -a name docs.github.com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dns-sd -G v4 docs.github.com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Ctrl+C after an Add row, or if no result appears after 10 s.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5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dns-sd -G v4 docs.github.com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Ctrl+C again after recording the address and TTL.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41576"/>
            <a:ext cx="10820400" cy="1428875"/>
          </a:xfrm>
          <a:prstGeom prst="roundRect">
            <a:avLst>
              <a:gd name="adj" fmla="val 320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41576"/>
            <a:ext cx="76200" cy="142887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36826"/>
            <a:ext cx="10363200" cy="25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66967"/>
            <a:ext cx="10363200" cy="7391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dns-sd reports the native resolver's address and TTL. This is an active lookup, not a dump of every cached record.</a:t>
            </a:r>
            <a:endParaRPr lang="en-US" sz="214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dns-sd implementation and address/TTL output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it: watch this machine's DNS cache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339846"/>
          </a:xfrm>
          <a:prstGeom prst="roundRect">
            <a:avLst>
              <a:gd name="adj" fmla="val 164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any directory; internet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276453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docs.github.com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-DnsOnly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Out-Null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Get-Date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).ToUniversalTime().ToString(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'HH:mm:ss'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Get-DnsClientCache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-Entry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docs.github.com 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-eq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Entry, TimeToLive,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-Seconds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Get-DnsClientCache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recorded countdown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compare the two recursive answers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outbound DNS to these resolvers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'depaul.edu'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"@8.8.8.8"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SERVER, status, answer, and TTL. These replies come from the selected recursive resolvers, not your local cache.</a:t>
            </a:r>
            <a:endParaRPr lang="en-US" sz="225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it: compare two recursive answers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outbound DNS to public resolvers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'depaul.edu'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-DnsOnly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8.8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8.8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-DnsOnly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Resolve-DnsName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resolver comparison</a:t>
            </a:r>
            <a:endParaRPr 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Interpret the comparison before changing anything</a:t>
            </a:r>
            <a:endParaRPr lang="en-US" sz="4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observation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Plausible mechanism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to conclude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Different remaining TTLs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Caches filled or refreshed at different times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 cache age, not just the name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Different addresses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Cached older data or authoritative traffic steering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 time, resolver, and authority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Matching answers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These two queries agree right now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 clients may still differ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split answers and provenance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1034, caching</a:t>
            </a:r>
            <a:endParaRPr lang="en-US" sz="12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 and Luis can both be reading valid cache state</a:t>
            </a:r>
            <a:endParaRPr lang="en-US" sz="4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Illustrative time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Maya's cache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Luis's cache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09:00, before edit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 address; 600 seconds remain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entry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09:01, record changed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Still old; 540 seconds remain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Fetches new authoritative value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09:05, compare browsers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Still old; 300 seconds remain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Maya's entry expires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 lookup can fetch the new value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Independent timer continues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1034 §4.3.4, caching</a:t>
            </a:r>
            <a:endParaRPr lang="en-US" sz="12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read the same offline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./weeks/week02/samples/os-cache-ttl-windows.txt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./weeks/week02/samples/dig-split-answers.txt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file is a Windows cache capture, not Mac output. Stop any dns-sd watch with Ctrl+C; no cache flush is needed.</a:t>
            </a:r>
            <a:endParaRPr lang="en-US" sz="2256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caching question, different observations</a:t>
            </a:r>
            <a:endParaRPr lang="en-US" sz="4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Important limit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 cache command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local cached record and remaining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snapshot, not a browser trace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 native lookup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address and a reported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lookup may trigger fresh work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 to a named server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That resolver's answer and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a dump of the OS cache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Offline comparison and a clean stopping point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.\weeks\week02\samples\os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-cache-ttl-windows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.\weeks\week02\samples\dig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-split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-answers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76809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76809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6334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capture date. No records, servers, or cache settings were changed.</a:t>
            </a:r>
            <a:endParaRPr lang="en-US" sz="2256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636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"It hasn't propagated yet" is always the wrong sentence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1981432"/>
            <a:ext cx="10820400" cy="179447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pushed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any resolver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No recursive cache is notified</a:t>
            </a:r>
            <a:endParaRPr lang="en-US" sz="21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old value persists because a resolver already fetched it and is honoring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TTL</a:t>
            </a:r>
            <a:endParaRPr lang="en-US" sz="21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delay is not distance and not sync — it is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timer you chose</a:t>
            </a:r>
            <a:endParaRPr lang="en-US" sz="21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fix is lowering the TTL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change, not after</a:t>
            </a:r>
            <a:endParaRPr lang="en-US" sz="2172" dirty="0"/>
          </a:p>
        </p:txBody>
      </p:sp>
      <p:sp>
        <p:nvSpPr>
          <p:cNvPr id="8" name="Shape 6"/>
          <p:cNvSpPr/>
          <p:nvPr/>
        </p:nvSpPr>
        <p:spPr>
          <a:xfrm>
            <a:off x="685800" y="3896569"/>
            <a:ext cx="10820400" cy="1680536"/>
          </a:xfrm>
          <a:prstGeom prst="roundRect">
            <a:avLst>
              <a:gd name="adj" fmla="val 2721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96569"/>
            <a:ext cx="76200" cy="168053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91819"/>
            <a:ext cx="10363200" cy="241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311149"/>
            <a:ext cx="10363200" cy="1057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Lowering the TTL after the cutover does nothing for caches already holding the</a:t>
            </a:r>
            <a:endParaRPr lang="en-US" sz="2041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0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 record at the old TTL.</a:t>
            </a:r>
            <a:endParaRPr lang="en-US" sz="2041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Julia Evans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Zine: How DNS Works!</a:t>
            </a:r>
            <a:endParaRPr 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1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 is cached too, and the TTL comes from somewhere surprising</a:t>
            </a:r>
            <a:endParaRPr lang="en-US" sz="3401" dirty="0"/>
          </a:p>
        </p:txBody>
      </p:sp>
      <p:sp>
        <p:nvSpPr>
          <p:cNvPr id="7" name="Shape 5"/>
          <p:cNvSpPr/>
          <p:nvPr/>
        </p:nvSpPr>
        <p:spPr>
          <a:xfrm>
            <a:off x="685800" y="1685662"/>
            <a:ext cx="10820400" cy="2570768"/>
          </a:xfrm>
          <a:prstGeom prst="roundRect">
            <a:avLst>
              <a:gd name="adj" fmla="val 2134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566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471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@1.1.1.1 nonexistent-week2-demo.depaul.edu A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5242"/>
            <a:ext cx="10439400" cy="199545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nonexistent-week2-demo.depaul.edu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-&gt;&gt;HEADER&lt;&lt;- opcode: QUERY, status: NXDOMAIN, id: 61390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rd ra; QUERY: 1, ANSWER: 0, AUTHORITY: 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SECTION: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900  IN  SOA  ns1.depaul.edu. networks.depaul.edu.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3 14400 1800 1209600 900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           ^^^ minimum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379830"/>
            <a:ext cx="10820400" cy="1211770"/>
          </a:xfrm>
          <a:prstGeom prst="roundRect">
            <a:avLst>
              <a:gd name="adj" fmla="val 3773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79830"/>
            <a:ext cx="76200" cy="1211770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75080"/>
            <a:ext cx="10363200" cy="215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770855"/>
            <a:ext cx="10363200" cy="7292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l" indent="0" marL="0">
              <a:lnSpc>
                <a:spcPct val="136000"/>
              </a:lnSpc>
              <a:buNone/>
            </a:pPr>
            <a:r>
              <a:rPr lang="en-US" sz="182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</a:t>
            </a:r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field of the SOA — here </a:t>
            </a:r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is the negative-cache TTL. The</a:t>
            </a:r>
            <a:endParaRPr lang="en-US" sz="182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record's own TTL does not apply, because there is no record.</a:t>
            </a:r>
            <a:endParaRPr lang="en-US" sz="1827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2308, Negative Caching of DNS Queries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NXDOMAIN and NODATA are not the same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NODATA — the name exists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117598"/>
            <a:ext cx="52197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2567178"/>
            <a:ext cx="48387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CAA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status: NOERROR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ANSWER: 0, AUTHORITY: 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holds SOA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311396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name is real; this </a:t>
            </a:r>
            <a:pPr algn="l" indent="0" marL="0">
              <a:lnSpc>
                <a:spcPct val="136000"/>
              </a:lnSpc>
              <a:buNone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not.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SOA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AUTHORITY is the tell.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referral looks identical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286500" y="2117598"/>
            <a:ext cx="52197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89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7000" y="2567178"/>
            <a:ext cx="48387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@a.root-servers.net ...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status: NOERROR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ANSWER: 0, AUTHORITY: 13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holds 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6500" y="4311396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status, same zero answers.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AUTHORITY means "ask elsewhere."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46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4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name, same second, three different answers</a:t>
            </a:r>
            <a:endParaRPr lang="en-US" sz="3349" dirty="0"/>
          </a:p>
        </p:txBody>
      </p:sp>
      <p:sp>
        <p:nvSpPr>
          <p:cNvPr id="7" name="Shape 5"/>
          <p:cNvSpPr/>
          <p:nvPr/>
        </p:nvSpPr>
        <p:spPr>
          <a:xfrm>
            <a:off x="685800" y="1652164"/>
            <a:ext cx="10820400" cy="2928060"/>
          </a:xfrm>
          <a:prstGeom prst="roundRect">
            <a:avLst>
              <a:gd name="adj" fmla="val 1874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5216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7121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name, three public resolvers, run back to back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01744"/>
            <a:ext cx="10439400" cy="235275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www.microsoft.com 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www.microsoft.com.  3584  IN  CNAME  ...edgekey.net.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e13678.dscb.akamaiedge.net.  4  IN  A  23.0.194.92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@8.8.8.8 www.microsoft.com 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www.microsoft.com.  1494  IN  CNAME  ...edgekey.net.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e13678.dscb.akamaiedge.net.  20  IN  A  23.0.194.92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@9.9.9.9 www.microsoft.com 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www.microsoft.com.  2061  IN  CNAME  ...edgekey.net.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e13678.dscb.akamaiedge.net.  17  IN  A  184.28.10.89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701733"/>
            <a:ext cx="10820400" cy="1158458"/>
          </a:xfrm>
          <a:prstGeom prst="roundRect">
            <a:avLst>
              <a:gd name="adj" fmla="val 394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01733"/>
            <a:ext cx="76200" cy="115845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96983"/>
            <a:ext cx="10363200" cy="212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089685"/>
            <a:ext cx="10363200" cy="6775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addresses </a:t>
            </a:r>
            <a:pPr algn="l" indent="0" marL="0">
              <a:lnSpc>
                <a:spcPct val="136000"/>
              </a:lnSpc>
              <a:buNone/>
            </a:pPr>
            <a:r>
              <a:rPr lang="en-US" sz="17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different TTL remainders. Neither is wrong. There is</a:t>
            </a:r>
            <a:endParaRPr lang="en-US" sz="1799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correct answer to "what does this name resolve to."</a:t>
            </a:r>
            <a:endParaRPr lang="en-US" sz="1799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022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2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 one resolver IP is many caches</a:t>
            </a:r>
            <a:endParaRPr lang="en-US" sz="3622" dirty="0"/>
          </a:p>
        </p:txBody>
      </p:sp>
      <p:sp>
        <p:nvSpPr>
          <p:cNvPr id="7" name="Shape 5"/>
          <p:cNvSpPr/>
          <p:nvPr/>
        </p:nvSpPr>
        <p:spPr>
          <a:xfrm>
            <a:off x="685800" y="1415185"/>
            <a:ext cx="10820400" cy="2607664"/>
          </a:xfrm>
          <a:prstGeom prst="roundRect">
            <a:avLst>
              <a:gd name="adj" fmla="val 2104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518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3423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back-to-back queries to the SAME address, 1.1.1.1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864765"/>
            <a:ext cx="10439400" cy="203235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 2 3 4 5 6;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dig @1.1.1.1 depaul.edu A +noall +answer;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 IN  A  64.239.109.1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 IN  A  64.239.109.1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86290  IN  A  64.239.109.1     &lt;- 110 s older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 IN  A  64.239.109.1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86290  IN  A  64.239.109.1     &lt;- same older node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 IN  A  64.239.109.1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54267"/>
            <a:ext cx="10820400" cy="1696016"/>
          </a:xfrm>
          <a:prstGeom prst="roundRect">
            <a:avLst>
              <a:gd name="adj" fmla="val 2696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54267"/>
            <a:ext cx="76200" cy="1696016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49517"/>
            <a:ext cx="10363200" cy="2299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58320"/>
            <a:ext cx="10363200" cy="12069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4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1.1.1.1</a:t>
            </a:r>
            <a:pPr algn="l" indent="0" marL="0">
              <a:lnSpc>
                <a:spcPct val="136000"/>
              </a:lnSpc>
              <a:buNone/>
            </a:pPr>
            <a:r>
              <a:rPr lang="en-US" sz="194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an </a:t>
            </a:r>
            <a:pPr algn="l" indent="0" marL="0">
              <a:lnSpc>
                <a:spcPct val="136000"/>
              </a:lnSpc>
              <a:buNone/>
            </a:pPr>
            <a:r>
              <a:rPr lang="en-US" sz="194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anycast</a:t>
            </a:r>
            <a:pPr algn="l" indent="0" marL="0">
              <a:lnSpc>
                <a:spcPct val="136000"/>
              </a:lnSpc>
              <a:buNone/>
            </a:pPr>
            <a:r>
              <a:rPr lang="en-US" sz="194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address announced from hundreds of sites, each with</a:t>
            </a:r>
            <a:endParaRPr lang="en-US" sz="194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4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cache — and each site load-balances across several machines.</a:t>
            </a:r>
            <a:endParaRPr lang="en-US" sz="194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356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4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DoH and DoT move the conversation, not the answer</a:t>
            </a:r>
            <a:endParaRPr lang="en-US" sz="3342" dirty="0"/>
          </a:p>
        </p:txBody>
      </p:sp>
      <p:sp>
        <p:nvSpPr>
          <p:cNvPr id="7" name="Text 5"/>
          <p:cNvSpPr/>
          <p:nvPr/>
        </p:nvSpPr>
        <p:spPr>
          <a:xfrm>
            <a:off x="685800" y="1740948"/>
            <a:ext cx="10820400" cy="19178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DNS over TLS, port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853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Encrypted, but on a port that is obviously DNS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DoH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DNS over HTTPS, port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443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Encrypted, and hard to distinguish from web traffic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resolution logic is unchanged — same recursion, same caches, same TTLs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changes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see and who can intercept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resolver you ask</a:t>
            </a:r>
            <a:endParaRPr lang="en-US" sz="1910" dirty="0"/>
          </a:p>
        </p:txBody>
      </p:sp>
      <p:sp>
        <p:nvSpPr>
          <p:cNvPr id="8" name="Shape 6"/>
          <p:cNvSpPr/>
          <p:nvPr/>
        </p:nvSpPr>
        <p:spPr>
          <a:xfrm>
            <a:off x="685800" y="3764870"/>
            <a:ext cx="10820400" cy="1828869"/>
          </a:xfrm>
          <a:prstGeom prst="roundRect">
            <a:avLst>
              <a:gd name="adj" fmla="val 2500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764870"/>
            <a:ext cx="76200" cy="1828869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60120"/>
            <a:ext cx="10363200" cy="212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WHAT ACTUALLY BREAKS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152419"/>
            <a:ext cx="10363200" cy="13481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Split-horizon DNS. A browser using DoH to a public resolver bypasses the</a:t>
            </a:r>
            <a:endParaRPr lang="en-US" sz="179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or campus resolver that serves internal-only names — so </a:t>
            </a:r>
            <a:endParaRPr lang="en-US" sz="179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intranet. depaul.edu</a:t>
            </a:r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stops resolving on a machine that is physically on the network.</a:t>
            </a:r>
            <a:endParaRPr lang="en-US" sz="179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8484, DNS Queries over HTTPS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7858, DNS over TLS</a:t>
            </a:r>
            <a:endParaRPr lang="en-US" sz="12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3434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7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DoH really is just an HTTPS request</a:t>
            </a:r>
            <a:endParaRPr lang="en-US" sz="3407" dirty="0"/>
          </a:p>
        </p:txBody>
      </p:sp>
      <p:sp>
        <p:nvSpPr>
          <p:cNvPr id="7" name="Shape 5"/>
          <p:cNvSpPr/>
          <p:nvPr/>
        </p:nvSpPr>
        <p:spPr>
          <a:xfrm>
            <a:off x="685800" y="1341475"/>
            <a:ext cx="10820400" cy="3199586"/>
          </a:xfrm>
          <a:prstGeom prst="roundRect">
            <a:avLst>
              <a:gd name="adj" fmla="val 1715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4147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6052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Cloudflare's DoH JSON API — the same fields dig shows you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91055"/>
            <a:ext cx="10439400" cy="26242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"accept: application/dns-json"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"https://cloudflare-dns.com/dns-query?name=depaul.edu&amp;type=A"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{"Status":0,"TC":false,"RD":true,"RA":true,"AD":false,"CD":false,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"Question":[{"name":"depaul.edu","type":1}],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"Answer":[{"name":"depaul.edu","type":1,"TTL":86400,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"data":"64.239.109.1"}]}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 on the wire: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Connected to cloudflare-dns.com (104.16.249.249) port 443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ALPN: server accepted h2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 /dns-query?name=depaul.edu&amp;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 HTTP/2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HTTP/2 200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664704"/>
            <a:ext cx="10820400" cy="1193352"/>
          </a:xfrm>
          <a:prstGeom prst="roundRect">
            <a:avLst>
              <a:gd name="adj" fmla="val 3831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64704"/>
            <a:ext cx="76200" cy="1193352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59954"/>
            <a:ext cx="10363200" cy="216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056125"/>
            <a:ext cx="10363200" cy="710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JSON API is a </a:t>
            </a:r>
            <a:pPr algn="l" indent="0" marL="0">
              <a:lnSpc>
                <a:spcPct val="136000"/>
              </a:lnSpc>
              <a:buNone/>
            </a:pPr>
            <a:r>
              <a:rPr lang="en-US" sz="18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convenience</a:t>
            </a:r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Standard DoH (RFC 8484) carries the</a:t>
            </a:r>
            <a:endParaRPr lang="en-US" sz="183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wire format as </a:t>
            </a:r>
            <a:endParaRPr lang="en-US" sz="183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application/dns-message</a:t>
            </a:r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changed an A record 20 minutes ago. Three people see three different things.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347466"/>
            <a:ext cx="108204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see the new address immediately from your laptop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second device you own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same wifi, still shows the old address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grader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gets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NXDOMAIN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hostname you created 5 minutes ago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2308, Negative Caching of DNS Queries</a:t>
            </a:r>
            <a:endParaRPr lang="en-US" sz="12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Owning a zone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Registrar, registry, DNS host — and the records you will actually configure tonight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588514"/>
            <a:ext cx="108204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bought a domain last week. Tonight you make it point at something.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Priya edited a zone nobody queries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change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registrar account shows an editable DNS zone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changes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203.0.113.10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.44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UI says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but public answers never move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ownership check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NS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names a different host for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campuspulse.example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host owns the authoritative copy of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moves the change, lowers TTL first, and writes a rollback time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8341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one question that ends most DNS support tickets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1791556"/>
            <a:ext cx="10820400" cy="1750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"My domain is broken" is never a single system's fault, because a domain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systems</a:t>
            </a:r>
            <a:endParaRPr lang="en-US" sz="196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runs the TLD.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sells you the name.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answers queries</a:t>
            </a:r>
            <a:endParaRPr lang="en-US" sz="196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can be three different companies, and usually are</a:t>
            </a:r>
            <a:endParaRPr lang="en-US" sz="196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Almost every DNS ticket is really "I edited the wrong one of these three"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3651617"/>
            <a:ext cx="10820400" cy="1938399"/>
          </a:xfrm>
          <a:prstGeom prst="roundRect">
            <a:avLst>
              <a:gd name="adj" fmla="val 235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651617"/>
            <a:ext cx="76200" cy="193839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6867"/>
            <a:ext cx="10363200" cy="218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045216"/>
            <a:ext cx="10363200" cy="145459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first: </a:t>
            </a:r>
            <a:pPr algn="l" indent="0" marL="0">
              <a:lnSpc>
                <a:spcPct val="136000"/>
              </a:lnSpc>
              <a:buNone/>
            </a:pPr>
            <a:r>
              <a:rPr lang="en-US" sz="185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this a delegation problem or a record problem?</a:t>
            </a:r>
            <a:pPr algn="l" indent="0" marL="0">
              <a:lnSpc>
                <a:spcPct val="136000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Delegation lives</a:t>
            </a:r>
            <a:endParaRPr lang="en-US" sz="18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the registrar. Records live at the DNS host. Different company, different</a:t>
            </a:r>
            <a:endParaRPr lang="en-US" sz="18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console, different blast radius.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ICANN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Registrar (official definition)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Julia Evans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Zine: How DNS Works!</a:t>
            </a:r>
            <a:endParaRPr lang="en-US" sz="12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holds what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organisations. Only one of them answers queries; only one of them can change who does.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8020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Delegation is two copies of the same fact, held by two parties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85800" y="1814421"/>
            <a:ext cx="10820400" cy="2213247"/>
          </a:xfrm>
          <a:prstGeom prst="roundRect">
            <a:avLst>
              <a:gd name="adj" fmla="val 247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1442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83347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parent's copy vs the child's copy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64001"/>
            <a:ext cx="10439400" cy="1637937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@a.edu-servers.net depaul.edu NS +norecurse 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parent: edu.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qr;  ANSWER: 0, AUTHORITY: 4              # a referral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172800  IN  NS  ns1.depaul.edu.        # TTL set by the registry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@ns1.depaul.edu depaul.edu NS +norecurse    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child: your zone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aa;  ANSWER: 4                         # authoritative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14400  IN  NS  ns1.depaul.edu.        # TTL set by you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4158288"/>
            <a:ext cx="10820400" cy="1692791"/>
          </a:xfrm>
          <a:prstGeom prst="roundRect">
            <a:avLst>
              <a:gd name="adj" fmla="val 270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58288"/>
            <a:ext cx="76200" cy="16927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53538"/>
            <a:ext cx="10363200" cy="228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61047"/>
            <a:ext cx="10363200" cy="12043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parent's copy is what the world follows. You cannot edit it from your DNS</a:t>
            </a:r>
            <a:endParaRPr lang="en-US" sz="193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— you edit it at your </a:t>
            </a:r>
            <a:endParaRPr lang="en-US" sz="193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3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pPr algn="l" indent="0" marL="0">
              <a:lnSpc>
                <a:spcPct val="136000"/>
              </a:lnSpc>
              <a:buNone/>
            </a:pPr>
            <a:r>
              <a:rPr lang="en-US" sz="19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the registry publishes it.</a:t>
            </a:r>
            <a:endParaRPr lang="en-US" sz="193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739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25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SOA is the zone's identity card</a:t>
            </a:r>
            <a:endParaRPr lang="en-US" sz="3525" dirty="0"/>
          </a:p>
        </p:txBody>
      </p:sp>
      <p:sp>
        <p:nvSpPr>
          <p:cNvPr id="7" name="Shape 5"/>
          <p:cNvSpPr/>
          <p:nvPr/>
        </p:nvSpPr>
        <p:spPr>
          <a:xfrm>
            <a:off x="685800" y="1384259"/>
            <a:ext cx="10820400" cy="2490639"/>
          </a:xfrm>
          <a:prstGeom prst="roundRect">
            <a:avLst>
              <a:gd name="adj" fmla="val 220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8425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0330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SOA depaul.edu — seven fields, two you will actually set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833839"/>
            <a:ext cx="10439400" cy="1915329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SOA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1800 IN SOA ns1.depaul.edu. networks.depaul.edu. (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3          ; serial   bump on every change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14400      ; refresh  secondary polls primary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1800       ; retry    after a failed poll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1209600    ; expire   secondary stops answering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900 )      ; minimum  NEGATIVE-cache TTL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002811"/>
            <a:ext cx="10820400" cy="1584276"/>
          </a:xfrm>
          <a:prstGeom prst="roundRect">
            <a:avLst>
              <a:gd name="adj" fmla="val 2886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02811"/>
            <a:ext cx="76200" cy="158427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98061"/>
            <a:ext cx="10363200" cy="223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401169"/>
            <a:ext cx="10363200" cy="10980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networks.depaul.edu.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an </a:t>
            </a:r>
            <a:pPr algn="l" indent="0" marL="0">
              <a:lnSpc>
                <a:spcPct val="136000"/>
              </a:lnSpc>
              <a:buNone/>
            </a:pPr>
            <a:r>
              <a:rPr lang="en-US" sz="189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address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first dot standing in for</a:t>
            </a:r>
            <a:endParaRPr lang="en-US" sz="189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endParaRPr lang="en-US" sz="189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It is 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networks@depaul.edu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This trips up everyone exactly once.</a:t>
            </a:r>
            <a:endParaRPr lang="en-US" sz="1894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1035 §3.3.13, SOA RDATA format</a:t>
            </a:r>
            <a:endParaRPr lang="en-US" sz="127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working 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Seven record types you will actually configure</a:t>
            </a:r>
            <a:endParaRPr lang="en-US" sz="4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record types you will actually use</a:t>
            </a:r>
            <a:endParaRPr lang="en-US" sz="4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trap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 → IPv4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Hard-codes an address you may not own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AAAA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 → IPv6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Missing it fails IPv6 clients silently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CNAME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 → a name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Illegal at the apex — next slide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TXT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255-char chunking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may issue certs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Absent = any CA may issue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mail goes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name, never an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apex CNAME problem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"this name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another name."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apex must hold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usually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cannot coexist with those records.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subdomain, so a CNAME is legal there.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apex needs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 flattening — useful, but not in any RFC.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3984498"/>
            <a:ext cx="10820400" cy="1214628"/>
          </a:xfrm>
          <a:prstGeom prst="roundRect">
            <a:avLst>
              <a:gd name="adj" fmla="val 376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84498"/>
            <a:ext cx="76200" cy="121462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79748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422648"/>
            <a:ext cx="10363200" cy="389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put a CNAME at the zone apex.</a:t>
            </a:r>
            <a:endParaRPr lang="en-US" sz="2256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5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CAA: the record that says who is allowed to issue for you</a:t>
            </a:r>
            <a:endParaRPr lang="en-US" sz="3380" dirty="0"/>
          </a:p>
        </p:txBody>
      </p:sp>
      <p:sp>
        <p:nvSpPr>
          <p:cNvPr id="7" name="Shape 5"/>
          <p:cNvSpPr/>
          <p:nvPr/>
        </p:nvSpPr>
        <p:spPr>
          <a:xfrm>
            <a:off x="685800" y="1681821"/>
            <a:ext cx="10820400" cy="2345998"/>
          </a:xfrm>
          <a:prstGeom prst="roundRect">
            <a:avLst>
              <a:gd name="adj" fmla="val 23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182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087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 publishes a CAA policy; depaul.edu does not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1401"/>
            <a:ext cx="10439400" cy="17706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github.com CAA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github.com. 3600 IN CAA 0 issue     "letsencrypt.org"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github.com. 3600 IN CAA 0 issuewild "letsencrypt.org"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... 5 more: digicert, sectigo, globalsign, 2 issuewild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CAA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status: NOERROR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ANSWER: 0             &lt;- NODATA, and edu. has none either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50469"/>
            <a:ext cx="10820400" cy="1441881"/>
          </a:xfrm>
          <a:prstGeom prst="roundRect">
            <a:avLst>
              <a:gd name="adj" fmla="val 317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50469"/>
            <a:ext cx="76200" cy="144188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45719"/>
            <a:ext cx="10363200" cy="214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40275"/>
            <a:ext cx="10363200" cy="9600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</a:t>
            </a:r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authorizes issuance; </a:t>
            </a:r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issuewild</a:t>
            </a:r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lnSpc>
                <a:spcPct val="136000"/>
              </a:lnSpc>
              <a:buNone/>
            </a:pPr>
            <a:r>
              <a:rPr lang="en-US" sz="18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overrides it for wildcards</a:t>
            </a:r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when</a:t>
            </a:r>
            <a:endParaRPr lang="en-US" sz="181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present. A CA must check this record — climbing to the parent if there is none.</a:t>
            </a:r>
            <a:endParaRPr lang="en-US" sz="181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8659, DNS Certification Authority Authorization</a:t>
            </a:r>
            <a:endParaRPr lang="en-US" sz="12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3026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9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TXT records carry other systems' truth, not yours</a:t>
            </a:r>
            <a:endParaRPr lang="en-US" sz="3494" dirty="0"/>
          </a:p>
        </p:txBody>
      </p:sp>
      <p:sp>
        <p:nvSpPr>
          <p:cNvPr id="7" name="Shape 5"/>
          <p:cNvSpPr/>
          <p:nvPr/>
        </p:nvSpPr>
        <p:spPr>
          <a:xfrm>
            <a:off x="685800" y="1739748"/>
            <a:ext cx="10820400" cy="2692251"/>
          </a:xfrm>
          <a:prstGeom prst="roundRect">
            <a:avLst>
              <a:gd name="adj" fmla="val 203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974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5879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TXT depaul.edu — 21 records, elided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89328"/>
            <a:ext cx="10439400" cy="2116941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TXT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"v=spf1 include:spf.protection.outlook.com"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" include:_spf.google.com ... ~all"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"google-site-verification=GgecFA3L0pqdJ..."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"apple-domain-verification=fJm7Ug5BsVd0I7Fi"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"atlassian-domain-verification=tl5FjTuHJ..."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"ZOOM_verify_e622Dwe-Qi-ZMEJfMH3t1w"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  ... 16 more verification strings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558781"/>
            <a:ext cx="10820400" cy="1296137"/>
          </a:xfrm>
          <a:prstGeom prst="roundRect">
            <a:avLst>
              <a:gd name="adj" fmla="val 3527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58781"/>
            <a:ext cx="76200" cy="1296137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54031"/>
            <a:ext cx="10363200" cy="221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955302"/>
            <a:ext cx="10363200" cy="8108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these is a third party asking "prove you control this domain."</a:t>
            </a:r>
            <a:endParaRPr lang="en-US" sz="187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of DNS </a:t>
            </a:r>
            <a:endParaRPr lang="en-US" sz="187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</a:t>
            </a:r>
            <a:pPr algn="l" indent="0" marL="0">
              <a:lnSpc>
                <a:spcPct val="136000"/>
              </a:lnSpc>
              <a:buNone/>
            </a:pPr>
            <a:r>
              <a:rPr lang="en-US" sz="18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proof of ownership on the modern web.</a:t>
            </a:r>
            <a:endParaRPr lang="en-US" sz="1877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 that is actually hard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TTL is a decision, not a default</a:t>
            </a:r>
            <a:endParaRPr lang="en-US" sz="4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 TTL actually buys and costs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Long TTL — 86400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queries, cheaper, faster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Survives an authoritative outage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mistake is live for a day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Short TTL — 60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117598"/>
            <a:ext cx="52197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takes effect in a minute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is genuinely fast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query load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outage hits users in 60 s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cutover timeline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TTL drop must precede the change by at least the OLD TTL. That is the whole technique.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40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zone with reasons: every TTL is a decision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2064163"/>
            <a:ext cx="10820400" cy="3772383"/>
          </a:xfrm>
          <a:prstGeom prst="roundRect">
            <a:avLst>
              <a:gd name="adj" fmla="val 1454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64163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8321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campuspulse.example — exported zone, annotated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513743"/>
            <a:ext cx="10439400" cy="319707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$ORIGIN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campuspulse.example.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ns1.vendor.net.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203.0.113.20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198.51.100.7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 low: cutover window open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AAAA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2001:db8::20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campuspulse.example.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edge.vendor.net.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 low: may repoint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mail.vendor.net.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CAA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issue "letsencrypt.org"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"v=spf1 include:_spf.vendor.net -all"</a:t>
            </a:r>
            <a:endParaRPr lang="en-US" sz="18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988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7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Failover and geo-routing, in one slide</a:t>
            </a:r>
            <a:endParaRPr lang="en-US" sz="3474" dirty="0"/>
          </a:p>
        </p:txBody>
      </p:sp>
      <p:sp>
        <p:nvSpPr>
          <p:cNvPr id="7" name="Text 5"/>
          <p:cNvSpPr/>
          <p:nvPr/>
        </p:nvSpPr>
        <p:spPr>
          <a:xfrm>
            <a:off x="685800" y="1407771"/>
            <a:ext cx="10820400" cy="23766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authoritative server can answer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differently per query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that is all these features are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Failover: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health-check the target, stop returning the address that fails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 address A 90% of the time, B 10% — a canary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/ geo: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answer based on where the query appeared to come from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is bounded by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health-detection time + the remaining TTL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every cached answer</a:t>
            </a:r>
            <a:endParaRPr lang="en-US" sz="1985" dirty="0"/>
          </a:p>
        </p:txBody>
      </p:sp>
      <p:sp>
        <p:nvSpPr>
          <p:cNvPr id="8" name="Shape 6"/>
          <p:cNvSpPr/>
          <p:nvPr/>
        </p:nvSpPr>
        <p:spPr>
          <a:xfrm>
            <a:off x="685800" y="3894731"/>
            <a:ext cx="10820400" cy="1694203"/>
          </a:xfrm>
          <a:prstGeom prst="roundRect">
            <a:avLst>
              <a:gd name="adj" fmla="val 2699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94731"/>
            <a:ext cx="76200" cy="1694203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89981"/>
            <a:ext cx="10363200" cy="220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RECOGNITION LEVEL ONLY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290088"/>
            <a:ext cx="10363200" cy="12095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concept tour, not a build. You are not implementing traffic management</a:t>
            </a:r>
            <a:endParaRPr lang="en-US" sz="186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quarter. You </a:t>
            </a:r>
            <a:endParaRPr lang="en-US" sz="186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</a:t>
            </a:r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expected to recognise it in someone else's zone.</a:t>
            </a:r>
            <a:endParaRPr lang="en-US" sz="1866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Route 53 routing policies</a:t>
            </a:r>
            <a:endParaRPr lang="en-US" sz="12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356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4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DNSSEC: read it at recognition level, and know why</a:t>
            </a:r>
            <a:endParaRPr lang="en-US" sz="3342" dirty="0"/>
          </a:p>
        </p:txBody>
      </p:sp>
      <p:sp>
        <p:nvSpPr>
          <p:cNvPr id="7" name="Text 5"/>
          <p:cNvSpPr/>
          <p:nvPr/>
        </p:nvSpPr>
        <p:spPr>
          <a:xfrm>
            <a:off x="685800" y="1740948"/>
            <a:ext cx="10820400" cy="19178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DNSSEC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cryptographic signatures over DNS answers;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RRSIG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NSEC3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already saw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RRSIG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records in the Block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+trace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output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Slack's 2021 outage was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DNSSEC rollout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broke resolution for hours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Recognition level: know what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 is for and that a broken chain is a hard failure</a:t>
            </a:r>
            <a:endParaRPr lang="en-US" sz="1910" dirty="0"/>
          </a:p>
        </p:txBody>
      </p:sp>
      <p:sp>
        <p:nvSpPr>
          <p:cNvPr id="8" name="Shape 6"/>
          <p:cNvSpPr/>
          <p:nvPr/>
        </p:nvSpPr>
        <p:spPr>
          <a:xfrm>
            <a:off x="685800" y="3764870"/>
            <a:ext cx="10820400" cy="1828869"/>
          </a:xfrm>
          <a:prstGeom prst="roundRect">
            <a:avLst>
              <a:gd name="adj" fmla="val 2500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764870"/>
            <a:ext cx="76200" cy="1828869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60120"/>
            <a:ext cx="10363200" cy="212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152419"/>
            <a:ext cx="10363200" cy="13481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at recognition level only, per the course outline's depth note. The</a:t>
            </a:r>
            <a:endParaRPr lang="en-US" sz="179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is in this week's prep and it is worth doing before Week 4's certificate</a:t>
            </a:r>
            <a:endParaRPr lang="en-US" sz="179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work.</a:t>
            </a:r>
            <a:endParaRPr lang="en-US" sz="179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Engineering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happened during Slack's DNSSEC rollout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DNSSEC works</a:t>
            </a:r>
            <a:endParaRPr lang="en-US" sz="127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8542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Live: create a record, watch it become real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608692"/>
            <a:ext cx="5238750" cy="3373008"/>
          </a:xfrm>
          <a:prstGeom prst="roundRect">
            <a:avLst>
              <a:gd name="adj" fmla="val 135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722992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3065892"/>
            <a:ext cx="4781550" cy="24564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an already delegated zone you own; open its DNS host console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your OS preparation; create only its new demo label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an authoritative answer with two recursive answers</a:t>
            </a:r>
            <a:endParaRPr lang="en-US" sz="2208" dirty="0"/>
          </a:p>
        </p:txBody>
      </p:sp>
      <p:sp>
        <p:nvSpPr>
          <p:cNvPr id="12" name="Shape 10"/>
          <p:cNvSpPr/>
          <p:nvPr/>
        </p:nvSpPr>
        <p:spPr>
          <a:xfrm>
            <a:off x="6267450" y="2608692"/>
            <a:ext cx="5238750" cy="1888885"/>
          </a:xfrm>
          <a:prstGeom prst="roundRect">
            <a:avLst>
              <a:gd name="adj" fmla="val 242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722992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3065892"/>
            <a:ext cx="4781550" cy="1206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 and cached state may differ briefly</a:t>
            </a:r>
            <a:endParaRPr lang="en-US" sz="199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NXDOMAIN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needs diagnosis, not an arbitrary wait</a:t>
            </a:r>
            <a:endParaRPr lang="en-US" sz="1991" dirty="0"/>
          </a:p>
        </p:txBody>
      </p:sp>
      <p:sp>
        <p:nvSpPr>
          <p:cNvPr id="15" name="Shape 13"/>
          <p:cNvSpPr/>
          <p:nvPr/>
        </p:nvSpPr>
        <p:spPr>
          <a:xfrm>
            <a:off x="6267450" y="4688076"/>
            <a:ext cx="5238750" cy="1293624"/>
          </a:xfrm>
          <a:prstGeom prst="roundRect">
            <a:avLst>
              <a:gd name="adj" fmla="val 353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8023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5145276"/>
            <a:ext cx="4781550" cy="6066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owned zone or </a:t>
            </a:r>
            <a:pPr algn="l" indent="0" marL="0">
              <a:lnSpc>
                <a:spcPct val="136000"/>
              </a:lnSpc>
              <a:buNone/>
            </a:pPr>
            <a:r>
              <a:rPr lang="en-US" sz="207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</a:t>
            </a:r>
            <a:pPr algn="l" indent="0" marL="0">
              <a:lnSpc>
                <a:spcPct val="136000"/>
              </a:lnSpc>
              <a:buNone/>
            </a:pPr>
            <a:r>
              <a:rPr lang="en-US" sz="20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 Use the exact saved-evidence commands below.</a:t>
            </a:r>
            <a:endParaRPr lang="en-US" sz="2079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133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7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prepare an isolated demo name</a:t>
            </a:r>
            <a:endParaRPr lang="en-US" sz="3974" dirty="0"/>
          </a:p>
        </p:txBody>
      </p:sp>
      <p:sp>
        <p:nvSpPr>
          <p:cNvPr id="7" name="Shape 5"/>
          <p:cNvSpPr/>
          <p:nvPr/>
        </p:nvSpPr>
        <p:spPr>
          <a:xfrm>
            <a:off x="685800" y="1535927"/>
            <a:ext cx="10820400" cy="2738725"/>
          </a:xfrm>
          <a:prstGeom prst="roundRect">
            <a:avLst>
              <a:gd name="adj" fmla="val 200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3592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5497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owned delegated zone; dig on PATH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85507"/>
            <a:ext cx="10439400" cy="216341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-v dig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'Delegated zone you own: 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-r zone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"csc436-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$(uuidgen | tr 'A-F' 'a-f' | cut -c1-8)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ns=$(dig +short NS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-n 1)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 -n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] ||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'STOP: no nameserver; use offline evidence.\n'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'label=%s\nname=%s\nserver=%s\n'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418841"/>
            <a:ext cx="10820400" cy="1418671"/>
          </a:xfrm>
          <a:prstGeom prst="roundRect">
            <a:avLst>
              <a:gd name="adj" fmla="val 322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18841"/>
            <a:ext cx="76200" cy="141867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14091"/>
            <a:ext cx="10363200" cy="252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843647"/>
            <a:ext cx="10363200" cy="7373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zone or server is blank, stop and use the fallback. A nameserver answer is not proof of ownership.</a:t>
            </a:r>
            <a:endParaRPr lang="en-US" sz="2134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Prepare an isolated demo name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664458"/>
          </a:xfrm>
          <a:prstGeom prst="roundRect">
            <a:avLst>
              <a:gd name="adj" fmla="val 149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owned delegated zone; dig on PATH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30891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Get-Command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dig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Read-Host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'Already delegated DNS zone you own'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'csc436-'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+ [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]::NewGuid().ToString(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).Substring(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dig +short NS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-First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-not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 NS answer; use the offline fallback.'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owned-domain lab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ISC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</a:t>
            </a:r>
            <a:endParaRPr lang="en-US" sz="127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the DNS host console, save exactly one record</a:t>
            </a:r>
            <a:endParaRPr lang="en-US" sz="42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 the test label to IPv4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printed $label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 not edit apex, mail, or www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203.0.113.10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address; no real service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60, or the allowed minimum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 the value actually accepted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Proxy mode, if offered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DNS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 the experiment about 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5737, documentation addresses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zone-change lab</a:t>
            </a:r>
            <a:endParaRPr lang="en-US" sz="127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69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9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query authority, then the caches</a:t>
            </a:r>
            <a:endParaRPr lang="en-US" sz="4093" dirty="0"/>
          </a:p>
        </p:txBody>
      </p:sp>
      <p:sp>
        <p:nvSpPr>
          <p:cNvPr id="7" name="Shape 5"/>
          <p:cNvSpPr/>
          <p:nvPr/>
        </p:nvSpPr>
        <p:spPr>
          <a:xfrm>
            <a:off x="685800" y="1582696"/>
            <a:ext cx="10820400" cy="2573954"/>
          </a:xfrm>
          <a:prstGeom prst="roundRect">
            <a:avLst>
              <a:gd name="adj" fmla="val 21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8269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0174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same Bash/zsh session as preparation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32276"/>
            <a:ext cx="10439400" cy="199864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-u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'+%Y-%m-%dT%H:%M:%SZ'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"@8.8.8.8"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30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305159"/>
            <a:ext cx="10820400" cy="1528031"/>
          </a:xfrm>
          <a:prstGeom prst="roundRect">
            <a:avLst>
              <a:gd name="adj" fmla="val 299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05159"/>
            <a:ext cx="76200" cy="152803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00409"/>
            <a:ext cx="10363200" cy="259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736987"/>
            <a:ext cx="10363200" cy="7594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9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console edit, compare the authoritative answer with each cached answer and its remaining TTL.</a:t>
            </a:r>
            <a:endParaRPr lang="en-US" sz="2198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Query the source, then two caches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690622"/>
          </a:xfrm>
          <a:prstGeom prst="roundRect">
            <a:avLst>
              <a:gd name="adj" fmla="val 20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PowerShell terminal - variables from the preparation slide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211531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Get-Date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).ToUniversalTime().ToString(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"@8.8.8.8"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-Seconds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recursive versus authoritative evidence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2308, negative caching</a:t>
            </a:r>
            <a:endParaRPr lang="en-US" sz="127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DNS fields carry the conclusion?</a:t>
            </a:r>
            <a:endParaRPr lang="en-US" sz="42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this field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after publication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Interpretation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Authoritative flags include aa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record for 203.0.113.10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authority serves the saved value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Recursive ANSWER address and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address; its own remaining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cache answers on its own clock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NXDOMAIN with an SOA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Authority and resolver may disagree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Inspect negative-cache lifetime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2308 §5, caching negative answers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negative-cache evidence</a:t>
            </a:r>
            <a:endParaRPr lang="en-US" sz="127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changes about the CampusPulse cutover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false reassurance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console saved it."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262884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only describes a control-plane action, not every resolver's answer.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operational decision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286500" y="2715006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authority and caches.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86500" y="3262884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TTL before a real cutover; retain the old service during cache expiry.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cutover and rollback exercise</a:t>
            </a:r>
            <a:endParaRPr lang="en-US" sz="127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check the record after deletion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same session; AFTER deleting only the new label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only the generated demo record in the provider console. A recursive server can still return its cached answer.</a:t>
            </a:r>
            <a:endParaRPr lang="en-US" sz="2256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Delete only the demo record; verify the aftermath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PowerShell terminal - AFTER deleting the new label in the console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76809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76809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6334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the record whose name matches 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the zone or its nameservers.</a:t>
            </a:r>
            <a:endParaRPr lang="en-US" sz="2256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offline authority/cache comparison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no zone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'./weeks/week02/samples'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/dig-recursive-vs-authoritative.txt"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/dig-nxdomain.txt"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09270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9270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8795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3085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the same archived examples used on Windows. Reading them creates no record, process, or cleanup task.</a:t>
            </a:r>
            <a:endParaRPr lang="en-US" sz="2256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459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1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Offline fallback: authority, cache, and negative cache</a:t>
            </a:r>
            <a:endParaRPr lang="en-US" sz="4132" dirty="0"/>
          </a:p>
        </p:txBody>
      </p:sp>
      <p:sp>
        <p:nvSpPr>
          <p:cNvPr id="7" name="Shape 5"/>
          <p:cNvSpPr/>
          <p:nvPr/>
        </p:nvSpPr>
        <p:spPr>
          <a:xfrm>
            <a:off x="685800" y="2172835"/>
            <a:ext cx="10820400" cy="1673713"/>
          </a:xfrm>
          <a:prstGeom prst="roundRect">
            <a:avLst>
              <a:gd name="adj" fmla="val 327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7283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19188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no zone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22415"/>
            <a:ext cx="10439400" cy="109840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'.\weeks\week02\samples'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\dig-recursive-vs-authoritative.txt"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\dig-nxdomain.txt"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996481"/>
            <a:ext cx="10820400" cy="1568586"/>
          </a:xfrm>
          <a:prstGeom prst="roundRect">
            <a:avLst>
              <a:gd name="adj" fmla="val 2915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96481"/>
            <a:ext cx="76200" cy="1568586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91731"/>
            <a:ext cx="10363200" cy="262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430622"/>
            <a:ext cx="10363200" cy="76669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2026-08-15 captures of other names, not a recording of your demo label.</a:t>
            </a:r>
            <a:endParaRPr lang="en-US" sz="2219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 provenance</a:t>
            </a:r>
            <a:endParaRPr lang="en-US" sz="127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zone changes. Which console, and what is the blast radius?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347466"/>
            <a:ext cx="108204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a new hosting provider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DNS from your registrar's free service to Cloudflare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 naming Let's Encrypt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apex from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203.0.113.20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198.51.100.7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09:00 tomorrow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ICANN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Registrar (official definition)</a:t>
            </a:r>
            <a:endParaRPr lang="en-US" sz="127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 as a contract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Methods, status codes, and the handful of headers that decide whether your request means anything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588514"/>
            <a:ext cx="108204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name resolved. Now something has to answer — and answering is a contract.</a:t>
            </a:r>
            <a:endParaRPr lang="en-US" sz="2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a redirect quietly drops the report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request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mobile client sends a report with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HTTP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edge answers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302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points to the HTTPS URL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follows the redirect as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JSON body is gone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contract repair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307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preserves the method and body for a temporary redirect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308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preserves them for a permanent redirect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is the followed request line, not the first response alone</a:t>
            </a:r>
            <a:endParaRPr lang="en-US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8648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1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HTTP request is text you could have typed</a:t>
            </a:r>
            <a:endParaRPr lang="en-US" sz="3419" dirty="0"/>
          </a:p>
        </p:txBody>
      </p:sp>
      <p:sp>
        <p:nvSpPr>
          <p:cNvPr id="7" name="Shape 5"/>
          <p:cNvSpPr/>
          <p:nvPr/>
        </p:nvSpPr>
        <p:spPr>
          <a:xfrm>
            <a:off x="685800" y="1693928"/>
            <a:ext cx="10820400" cy="2815448"/>
          </a:xfrm>
          <a:prstGeom prst="roundRect">
            <a:avLst>
              <a:gd name="adj" fmla="val 194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392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297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request and response, hand-written over netcat (headers elided)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3508"/>
            <a:ext cx="10439400" cy="224013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'GET /healthz HTTP/1.1\r\nHost: status.campuspulse.example\r\n\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Connection: close\r\n\r\n'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nc 127.0.0.1 8081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 campuspulse-fault-lab/1.0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application/json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Content-Length: 39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Vary: Accept-Encoding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... Date and Connection also returned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{"status":"ok","service":"campuspulse"}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633437"/>
            <a:ext cx="10820400" cy="1224201"/>
          </a:xfrm>
          <a:prstGeom prst="roundRect">
            <a:avLst>
              <a:gd name="adj" fmla="val 373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33437"/>
            <a:ext cx="76200" cy="122420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28687"/>
            <a:ext cx="10363200" cy="217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025537"/>
            <a:ext cx="10363200" cy="7411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line, headers, blank line, body. Response line, headers, blank line,</a:t>
            </a:r>
            <a:endParaRPr lang="en-US" sz="183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body. The blank line is not decoration — it is the delimiter.</a:t>
            </a:r>
            <a:endParaRPr lang="en-US" sz="1837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is how one IP serves many sites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does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TCP connection carries no name — only an address and a port.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80004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how the server learns which of the 500 sites on that address you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wanted. Required in HTTP/1.1.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you will care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286500" y="2117598"/>
            <a:ext cx="5219700" cy="3015234"/>
          </a:xfrm>
          <a:prstGeom prst="roundRect">
            <a:avLst>
              <a:gd name="adj" fmla="val 182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89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7000" y="2567178"/>
            <a:ext cx="4838700" cy="243992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-sI 127.0.0.1:8081/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"Host: status.cp"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-sI 127.0.0.1:8081/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"Host: www.cp"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HTTP/1.1 404 Not Found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 and idempotent are different</a:t>
            </a:r>
            <a:endParaRPr lang="en-US" sz="42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Safe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Idem.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that permits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 it, prefetch it, retry it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as GET, headers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Retry a timeout, no duplicate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Retry; code may become 404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Never blind-retry. May charge twice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Depends on your patch semantics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Status families, read operationally</a:t>
            </a:r>
            <a:endParaRPr lang="en-US" sz="42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Family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Says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you actually do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2xx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worked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the body — 200 can wrap an error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3xx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 elsewhere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 hops; did the method survive?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4xx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are wrong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Fix it — but 408/425/429 say retry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5xx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 am wrong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Retry with backoff — not POST, not 501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four redirects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old pair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 Moved Permanently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302 Found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80004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are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permitted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rewrite a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In practice they always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— the body is dropped.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pair that fixed it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286500" y="2117598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307 Temporary Redirect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308 Permanent Redirect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86500" y="3080004"/>
            <a:ext cx="5219700" cy="1658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and body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 preserved. Redirecting anything but a page view? Use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9110 §15.4, Redirection 3xx</a:t>
            </a:r>
            <a:endParaRPr lang="en-US" sz="1275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134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</a:t>
            </a:r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that quietly became a </a:t>
            </a:r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3319" dirty="0"/>
          </a:p>
        </p:txBody>
      </p:sp>
      <p:sp>
        <p:nvSpPr>
          <p:cNvPr id="7" name="Shape 5"/>
          <p:cNvSpPr/>
          <p:nvPr/>
        </p:nvSpPr>
        <p:spPr>
          <a:xfrm>
            <a:off x="685800" y="1318213"/>
            <a:ext cx="10820400" cy="3079646"/>
          </a:xfrm>
          <a:prstGeom prst="roundRect">
            <a:avLst>
              <a:gd name="adj" fmla="val 178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1821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3726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HW2 fault 2 — real capture, curl following a 302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67793"/>
            <a:ext cx="10439400" cy="250433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-sv -L -d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'{"service":"library-wifi","state":"degraded"}'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'Content-Type: application/json'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http://campuspulse.example:8082/legacy/incidents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 /legacy/incidents HTTP/1.1       &lt;- the request you wrote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HTTP/1.1 302 Found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 Location: http://campuspulse.example:8082/api/incidents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Switch from POST to GET               &lt;- curl obeying the spec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 /api/incidents HTTP/1.1           &lt;- the request that arrived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HTTP/1.1 405 Method Not Allowed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Allow: POST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{"error":"method_not_allowed","expected":"POST"}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518303"/>
            <a:ext cx="10820400" cy="1342954"/>
          </a:xfrm>
          <a:prstGeom prst="roundRect">
            <a:avLst>
              <a:gd name="adj" fmla="val 3404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18303"/>
            <a:ext cx="76200" cy="1342954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13553"/>
            <a:ext cx="10363200" cy="210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904523"/>
            <a:ext cx="10363200" cy="8628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405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lucky outcome. If 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 /api/incidents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had returned a 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</a:t>
            </a:r>
            <a:endParaRPr lang="en-US" sz="1783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incidents, the client would have reported success and created nothing.</a:t>
            </a:r>
            <a:endParaRPr lang="en-US" sz="1783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739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25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tool will lie to you if you let it</a:t>
            </a:r>
            <a:endParaRPr lang="en-US" sz="3525" dirty="0"/>
          </a:p>
        </p:txBody>
      </p:sp>
      <p:sp>
        <p:nvSpPr>
          <p:cNvPr id="7" name="Shape 5"/>
          <p:cNvSpPr/>
          <p:nvPr/>
        </p:nvSpPr>
        <p:spPr>
          <a:xfrm>
            <a:off x="685800" y="1384259"/>
            <a:ext cx="10820400" cy="2490639"/>
          </a:xfrm>
          <a:prstGeom prst="roundRect">
            <a:avLst>
              <a:gd name="adj" fmla="val 220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8425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0330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request, with -X POST added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833839"/>
            <a:ext cx="10439400" cy="1915329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-sv -L -X POST -d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'{...}'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http://campuspulse.example:8082/legacy/incidents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HTTP/1.1 302 Found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Switch from POST to GET                &lt;- curl says it switched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 /api/incidents HTTP/1.1           &lt;- but -X forced POST anyway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HTTP/1.1 201 Created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{"created":true}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002811"/>
            <a:ext cx="10820400" cy="1584276"/>
          </a:xfrm>
          <a:prstGeom prst="roundRect">
            <a:avLst>
              <a:gd name="adj" fmla="val 2886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02811"/>
            <a:ext cx="76200" cy="158427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98061"/>
            <a:ext cx="10363200" cy="223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401169"/>
            <a:ext cx="10363200" cy="10980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 POST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overrides curl's method handling on redirects. The transcript now shows</a:t>
            </a:r>
            <a:endParaRPr lang="en-US" sz="189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— and no longer reproduces the bug your users are reporting.</a:t>
            </a:r>
            <a:endParaRPr lang="en-US" sz="1894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manual page,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--request</a:t>
            </a:r>
            <a:endParaRPr lang="en-US" sz="127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headers that carry meaning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request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which site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what I can parse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what I send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who I am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state the server gave me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response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117598"/>
            <a:ext cx="5219700" cy="3560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state to hold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where to go next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how long it is good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what the cache key depends on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which methods this URL takes</a:t>
            </a:r>
            <a:endParaRPr lang="en-US" sz="2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325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8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headers, from a real response</a:t>
            </a:r>
            <a:endParaRPr lang="en-US" sz="3388" dirty="0"/>
          </a:p>
        </p:txBody>
      </p:sp>
      <p:sp>
        <p:nvSpPr>
          <p:cNvPr id="7" name="Shape 5"/>
          <p:cNvSpPr/>
          <p:nvPr/>
        </p:nvSpPr>
        <p:spPr>
          <a:xfrm>
            <a:off x="685800" y="1339183"/>
            <a:ext cx="10820400" cy="2977277"/>
          </a:xfrm>
          <a:prstGeom prst="roundRect">
            <a:avLst>
              <a:gd name="adj" fmla="val 184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3918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5823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-sSI -H 'Accept-Encoding: gzip' https://jvns.ca/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88763"/>
            <a:ext cx="10439400" cy="2401967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-sSI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"Accept-Encoding: gzip"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https://jvns.ca/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HTTP/2 200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 public,max-age=0,must-revalidate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cache-status: "Netlify Edge"; fwd=miss; fwd-status=200; stored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content-encoding: gzip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text/html; charset=UTF-8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vary: Accept-Encoding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strict-transport-security: max-age=31536000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etag: "6008c0f02c21b4ab160180f6d8a36d15-ssl-df"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 Netlify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439388"/>
            <a:ext cx="10820400" cy="1419385"/>
          </a:xfrm>
          <a:prstGeom prst="roundRect">
            <a:avLst>
              <a:gd name="adj" fmla="val 3221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39388"/>
            <a:ext cx="76200" cy="1419385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34638"/>
            <a:ext cx="10363200" cy="215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829645"/>
            <a:ext cx="10363200" cy="93727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vary: Accept-Encoding</a:t>
            </a:r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plus </a:t>
            </a:r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content-encoding: gzip</a:t>
            </a:r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correct pair. The</a:t>
            </a:r>
            <a:endParaRPr lang="en-US" sz="182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is storing the compressed and uncompressed copies under different keys.</a:t>
            </a:r>
            <a:endParaRPr lang="en-US" sz="182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988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74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X-Forwarded-*</a:t>
            </a:r>
            <a:pPr algn="l" indent="0" marL="0">
              <a:lnSpc>
                <a:spcPct val="112000"/>
              </a:lnSpc>
              <a:buNone/>
            </a:pPr>
            <a:r>
              <a:rPr lang="en-US" sz="347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is a claim, not a fact</a:t>
            </a:r>
            <a:endParaRPr lang="en-US" sz="3474" dirty="0"/>
          </a:p>
        </p:txBody>
      </p:sp>
      <p:sp>
        <p:nvSpPr>
          <p:cNvPr id="7" name="Text 5"/>
          <p:cNvSpPr/>
          <p:nvPr/>
        </p:nvSpPr>
        <p:spPr>
          <a:xfrm>
            <a:off x="685800" y="1407771"/>
            <a:ext cx="10820400" cy="23766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TLS-terminating proxy ends the client's connection and opens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to your app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 sees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proxy's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address and protocol — true about the proxy, wrong about the client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proxy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client's details: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X-Forwarded-For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X-Forwarded-Proto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X-Forwarded-Host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can send these headers.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They are trustworthy only from a proxy you control</a:t>
            </a:r>
            <a:endParaRPr lang="en-US" sz="1985" dirty="0"/>
          </a:p>
        </p:txBody>
      </p:sp>
      <p:sp>
        <p:nvSpPr>
          <p:cNvPr id="8" name="Shape 6"/>
          <p:cNvSpPr/>
          <p:nvPr/>
        </p:nvSpPr>
        <p:spPr>
          <a:xfrm>
            <a:off x="685800" y="3894731"/>
            <a:ext cx="10820400" cy="1694203"/>
          </a:xfrm>
          <a:prstGeom prst="roundRect">
            <a:avLst>
              <a:gd name="adj" fmla="val 2699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94731"/>
            <a:ext cx="76200" cy="1694203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89981"/>
            <a:ext cx="10363200" cy="220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290088"/>
            <a:ext cx="10363200" cy="12095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app that trusts </a:t>
            </a:r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X-Forwarded-For</a:t>
            </a:r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any source can be given any client IP</a:t>
            </a:r>
            <a:endParaRPr lang="en-US" sz="186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any client — defeating rate limits, IP allowlists, and audit logs.</a:t>
            </a:r>
            <a:endParaRPr lang="en-US" sz="1866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X-Forwarded-Proto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7239, Forwarded HTTP Extension</a:t>
            </a:r>
            <a:endParaRPr lang="en-US" sz="127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8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letter-group wrong, and it redirects forever</a:t>
            </a:r>
            <a:endParaRPr lang="en-US" sz="3292" dirty="0"/>
          </a:p>
        </p:txBody>
      </p:sp>
      <p:sp>
        <p:nvSpPr>
          <p:cNvPr id="7" name="Shape 5"/>
          <p:cNvSpPr/>
          <p:nvPr/>
        </p:nvSpPr>
        <p:spPr>
          <a:xfrm>
            <a:off x="685800" y="1612030"/>
            <a:ext cx="10820400" cy="3248223"/>
          </a:xfrm>
          <a:prstGeom prst="roundRect">
            <a:avLst>
              <a:gd name="adj" fmla="val 168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1203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3108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HW2 fault 3 — trimmed capture; POSIX shell command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61610"/>
            <a:ext cx="10439400" cy="267291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-sSIL --max-redirs 4 \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--resolve status.campuspulse.example:8084:127.0.0.1 \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http://status.campuspulse.example:8084/healthz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HTTP/1.1 301 Moved Permanently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x-app-saw-xfp: (absent)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x-app-saw-forwarded-headers: x-forwarded-protocol, x-forwarded-for,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x-forwarded-host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 http://status.campuspulse.example:8084/healthz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x-proxy: campuspulse-lb/1.0 (terminates TLS)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... four identical hops elided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curl: (47) Maximum (4) redirects followed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-sI -H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"X-Forwarded-Proto: https"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http://127.0.0.1:8083/healthz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15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              &lt;- the app is fine. the header was wrong.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685800" y="4979717"/>
            <a:ext cx="10820400" cy="882519"/>
          </a:xfrm>
          <a:prstGeom prst="roundRect">
            <a:avLst>
              <a:gd name="adj" fmla="val 518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979717"/>
            <a:ext cx="76200" cy="88251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074967"/>
            <a:ext cx="10363200" cy="209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364346"/>
            <a:ext cx="10363200" cy="4032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reads the Proto header; the proxy sends the differently named Protocol header.</a:t>
            </a:r>
            <a:endParaRPr lang="en-US" sz="1768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51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Live: speak HTTP with your hands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094921"/>
            <a:ext cx="5238750" cy="3886779"/>
          </a:xfrm>
          <a:prstGeom prst="roundRect">
            <a:avLst>
              <a:gd name="adj" fmla="val 1176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09221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552121"/>
            <a:ext cx="4781550" cy="24564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the local fixture using your OS's A command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your OS's raw-request step in B; keep the destination fixed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only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succeeds;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fails</a:t>
            </a:r>
            <a:endParaRPr lang="en-US" sz="2208" dirty="0"/>
          </a:p>
        </p:txBody>
      </p:sp>
      <p:sp>
        <p:nvSpPr>
          <p:cNvPr id="12" name="Shape 10"/>
          <p:cNvSpPr/>
          <p:nvPr/>
        </p:nvSpPr>
        <p:spPr>
          <a:xfrm>
            <a:off x="6267450" y="2094921"/>
            <a:ext cx="5238750" cy="2176596"/>
          </a:xfrm>
          <a:prstGeom prst="roundRect">
            <a:avLst>
              <a:gd name="adj" fmla="val 2101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09221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552121"/>
            <a:ext cx="4781550" cy="8188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value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other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2208" dirty="0"/>
          </a:p>
        </p:txBody>
      </p:sp>
      <p:sp>
        <p:nvSpPr>
          <p:cNvPr id="15" name="Shape 13"/>
          <p:cNvSpPr/>
          <p:nvPr/>
        </p:nvSpPr>
        <p:spPr>
          <a:xfrm>
            <a:off x="6267450" y="4462017"/>
            <a:ext cx="5238750" cy="1519683"/>
          </a:xfrm>
          <a:prstGeom prst="roundRect">
            <a:avLst>
              <a:gd name="adj" fmla="val 3009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576317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919217"/>
            <a:ext cx="4781550" cy="7627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command slide opens all three real fault transcripts.</a:t>
            </a:r>
            <a:endParaRPr lang="en-US" sz="2208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A: start the same local faults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Default ports are 8081-8084.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Busy? Add --port 9100; use 9100-9103 in ALL later requests.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./weeks/week02/samples/http-faults/fault-server.mjs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the four loopback listeners. Keep A running; if changing the base port, update every request URL too.</a:t>
            </a:r>
            <a:endParaRPr lang="en-US" sz="2256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A: start all three local faults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Expected on loopback: 8081 Host, 8082 redirect, 8083 app, 8084 proxy.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Busy ports? Add --port 9100; use ports 9100-9103 in later commands.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.\weeks\week02\samples\http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-faults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\fault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fault server</a:t>
            </a:r>
            <a:endParaRPr lang="en-US" sz="127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write the HTTP bytes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native nc; A still running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'%s\r\n'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'GET /healthz HTTP/1.1'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status.campuspulse.example'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'Connection: close'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nc -w 5 127.0.0.1 8081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200 for this Host. Repeat with 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www.campuspulse.example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Host: the same socket now returns 404.</a:t>
            </a:r>
            <a:endParaRPr lang="en-US" sz="2256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79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177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write the HTTP bytes yourself</a:t>
            </a:r>
            <a:endParaRPr lang="en-US" sz="4177" dirty="0"/>
          </a:p>
        </p:txBody>
      </p:sp>
      <p:sp>
        <p:nvSpPr>
          <p:cNvPr id="7" name="Shape 5"/>
          <p:cNvSpPr/>
          <p:nvPr/>
        </p:nvSpPr>
        <p:spPr>
          <a:xfrm>
            <a:off x="685800" y="1616035"/>
            <a:ext cx="10820400" cy="3947393"/>
          </a:xfrm>
          <a:prstGeom prst="roundRect">
            <a:avLst>
              <a:gd name="adj" fmla="val 139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1603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3508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raw request; change only Host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65615"/>
            <a:ext cx="10439400" cy="337208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[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Net.Sockets.TcpClient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]::new(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'127.0.0.1'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.ReceiveTimeout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.GetStream()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 /healthz HTTP/1.1`r`nHost: 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+=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"status.campuspulse.example`r`nConnection: close`r`n`r`n"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[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Text.Encoding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]::ASCII.GetBytes(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.Length)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[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IO.StreamReader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]::new(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).ReadToEnd()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.Dispose() 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raw-request lab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9112 §2.1, message format</a:t>
            </a:r>
            <a:endParaRPr lang="en-US" sz="127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repeat the Host experiment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366010"/>
          </a:xfrm>
          <a:prstGeom prst="roundRect">
            <a:avLst>
              <a:gd name="adj" fmla="val 231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same listener, same path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7907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'http://127.0.0.1:8081/healthz'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-i --max-time 5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status.campuspulse.example'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-i --max-time 5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www.campuspulse.example'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44518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44518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39768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82668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responses are 200 then 404. Only the Host value changed; no DNS lookup was needed for the numeric destination.</a:t>
            </a:r>
            <a:endParaRPr lang="en-US" sz="2256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the Host experiment with curl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366010"/>
          </a:xfrm>
          <a:prstGeom prst="roundRect">
            <a:avLst>
              <a:gd name="adj" fmla="val 231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 - the same listener and path; only Host changes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7907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'http://127.0.0.1:8081/healthz'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status.campuspulse.example'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www.campuspulse.example'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host-routing capture</a:t>
            </a:r>
            <a:endParaRPr lang="en-US" sz="1275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follow the disappearing POST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366010"/>
          </a:xfrm>
          <a:prstGeom prst="roundRect">
            <a:avLst>
              <a:gd name="adj" fmla="val 231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synthetic requests 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7907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'http://127.0.0.1:8082'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-v -L --max-redirs 4 --max-time 5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-d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'service=library-wifi'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/legacy/incidents"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-v --max-time 5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-d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'service=library-wifi'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44518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44518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39768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82668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redirected request changes method and fails; the direct POST gets 201. Read the outgoing method at each hop.</a:t>
            </a:r>
            <a:endParaRPr lang="en-US" sz="2256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Reproduce the disappearing POST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366010"/>
          </a:xfrm>
          <a:prstGeom prst="roundRect">
            <a:avLst>
              <a:gd name="adj" fmla="val 231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 - synthetic request; no real incident is stored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7907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'http://127.0.0.1:8082'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--max-redirs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'service=library-wifi'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/legacy/incidents"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'service=library-wifi'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redirect and method capture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redirect behavior</a:t>
            </a:r>
            <a:endParaRPr lang="en-US" sz="127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Follow the request, not the success-shaped story</a:t>
            </a:r>
            <a:endParaRPr lang="en-US" sz="42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fixture exchange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Interpretation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Correct Host on port 8081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virtual host is configured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 Host, same socket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404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DNS is not the changed variable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POST, then follow a 302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arrives; 405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Redirect behavior changed the method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POST to the target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target accepts POST in this fixture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9110 §15.4.3, 302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fault implementation</a:t>
            </a:r>
            <a:endParaRPr lang="en-US" sz="1275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inspect the proxy mistake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HTTP-only local model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-I -L --max-redirs 3 --max-time 5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http://127.0.0.1:8084/healthz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-i --max-time 5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http://127.0.0.1:8083/healthz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'X-Forwarded-Proto: https'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path loops until curl stops; the corrected header reaches 200. This models a handoff, not real encryption.</a:t>
            </a:r>
            <a:endParaRPr lang="en-US" sz="2256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Locate the proxy's protocol-header mistake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 - HTTP-only local proxy model, not real TLS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--max-redirs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8084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8083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'X-Forwarded-Proto: https'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proxy-header capture</a:t>
            </a:r>
            <a:endParaRPr lang="en-US" sz="1275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stop, or use the recorded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'./weeks/week02/samples/http-faults'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/fault-1-host-header.txt"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/fault-2-redirect-chain.txt"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/fault-3-x-forwarded-proto.txt"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 in Terminal A stops all four local listeners. No generated files or network settings need removal.</a:t>
            </a:r>
            <a:endParaRPr lang="en-US" sz="2256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Finish the demo or open the recorded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 - repository root; offline fallback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'.\weeks\week02\samples\http-faults'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\fault-1-host-header.txt"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\fault-2-redirect-chain.txt"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\fault-3-x-forwarded-proto.txt"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417314"/>
            <a:ext cx="10820400" cy="1214628"/>
          </a:xfrm>
          <a:prstGeom prst="roundRect">
            <a:avLst>
              <a:gd name="adj" fmla="val 376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17314"/>
            <a:ext cx="76200" cy="121462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1256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855464"/>
            <a:ext cx="10363200" cy="389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Ctrl+C in Terminal A; that stops all four local listeners.</a:t>
            </a:r>
            <a:endParaRPr lang="en-US" sz="2256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symptoms. Name the most likely cause and the one command that confirms it.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347466"/>
            <a:ext cx="108204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returns 404;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the CNAME resolving correctly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client's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but nothing is ever created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reports too many redirects;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against the app directly is fine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Logged-out users are being served a page with someone else's name on it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9110, HTTP Semantics</a:t>
            </a:r>
            <a:endParaRPr lang="en-US" sz="1275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981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3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Guided lab: trace, delegate, cut over, speak HTTP</a:t>
            </a:r>
            <a:endParaRPr lang="en-US" sz="4039" dirty="0"/>
          </a:p>
        </p:txBody>
      </p:sp>
      <p:sp>
        <p:nvSpPr>
          <p:cNvPr id="7" name="Text 5"/>
          <p:cNvSpPr/>
          <p:nvPr/>
        </p:nvSpPr>
        <p:spPr>
          <a:xfrm>
            <a:off x="685800" y="2122487"/>
            <a:ext cx="10820400" cy="24540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Now, 35 minutes: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your own domain — trace delegation with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+trace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add a real record, and watch a TTL count down</a:t>
            </a:r>
            <a:endParaRPr lang="en-US" sz="23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a cutover with a rollback plan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just a change</a:t>
            </a:r>
            <a:endParaRPr lang="en-US" sz="23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type an HTTP request by hand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read the response yourself</a:t>
            </a:r>
            <a:endParaRPr lang="en-US" sz="23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Evidence, not a screenshot: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four of five parts feed HW2 directly — save everything as you go</a:t>
            </a:r>
            <a:endParaRPr lang="en-US" sz="2308" dirty="0"/>
          </a:p>
        </p:txBody>
      </p:sp>
      <p:sp>
        <p:nvSpPr>
          <p:cNvPr id="8" name="Shape 6"/>
          <p:cNvSpPr/>
          <p:nvPr/>
        </p:nvSpPr>
        <p:spPr>
          <a:xfrm>
            <a:off x="685800" y="4704799"/>
            <a:ext cx="10820400" cy="1130346"/>
          </a:xfrm>
          <a:prstGeom prst="roundRect">
            <a:avLst>
              <a:gd name="adj" fmla="val 404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704799"/>
            <a:ext cx="76200" cy="11303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00049"/>
            <a:ext cx="10363200" cy="256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5133451"/>
            <a:ext cx="10363200" cy="374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instructions and setup checklist: </a:t>
            </a:r>
            <a:pPr algn="l" indent="0" marL="0">
              <a:lnSpc>
                <a:spcPct val="136000"/>
              </a:lnSpc>
              <a:buNone/>
            </a:pPr>
            <a:r>
              <a:rPr lang="en-US" sz="2169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lab.md</a:t>
            </a:r>
            <a:pPr algn="l" indent="0" marL="0">
              <a:lnSpc>
                <a:spcPct val="136000"/>
              </a:lnSpc>
              <a:buNone/>
            </a:pPr>
            <a:r>
              <a:rPr lang="en-US" sz="21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169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5517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HW2: Zone Build and HTTP Forensics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685800" y="1470262"/>
            <a:ext cx="10820400" cy="27124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operate the domain you bought in HW1 — configure it deliberately, change it on a plan, diagnose it from evidence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 annotated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+trace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 exported zone file with a rationale per record, and an apex-vs-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decision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resolution proven from two resolvers, an executed TTL cutover with rollback, and three diagnosed HTTP failures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handout and rubric: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homework.md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due before Week 3</a:t>
            </a:r>
            <a:endParaRPr lang="en-US" sz="2114" dirty="0"/>
          </a:p>
        </p:txBody>
      </p:sp>
      <p:sp>
        <p:nvSpPr>
          <p:cNvPr id="8" name="Shape 6"/>
          <p:cNvSpPr/>
          <p:nvPr/>
        </p:nvSpPr>
        <p:spPr>
          <a:xfrm>
            <a:off x="685800" y="4300213"/>
            <a:ext cx="10820400" cy="1280541"/>
          </a:xfrm>
          <a:prstGeom prst="roundRect">
            <a:avLst>
              <a:gd name="adj" fmla="val 3570"/>
            </a:avLst>
          </a:prstGeom>
          <a:solidFill>
            <a:srgbClr val="10321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00213"/>
            <a:ext cx="76200" cy="1280541"/>
          </a:xfrm>
          <a:prstGeom prst="rect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95463"/>
            <a:ext cx="10363200" cy="234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86EFA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✦  TIP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08864"/>
            <a:ext cx="10363200" cy="6864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8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tonight — the cutover task has a mandatory wait of at least one TTL, not just active work.</a:t>
            </a:r>
            <a:endParaRPr lang="en-US" sz="1987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HW2 handout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standard</a:t>
            </a:r>
            <a:endParaRPr lang="en-US" sz="1275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3560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ticket: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sentence — which cache in tonight's evidence surprised you most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Week 3 class: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complete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3 prep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items 1–6, about 57 minutes, plus the tooling checklist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logistics question we didn't reach: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discussion board, not a hallway guess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week: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what the AI writes — reading TypeScript, React, and containers as a reviewer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96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DNS: Turning a Name into an Address — Week 2 Full session</dc:title>
  <dc:subject>Review, preparation, logistics, teaching, individual practice, and the end-of-class brief</dc:subject>
  <dc:creator>Course staff</dc:creator>
  <cp:lastModifiedBy>Course staff</cp:lastModifiedBy>
  <cp:revision>1</cp:revision>
  <dcterms:created xsi:type="dcterms:W3CDTF">2026-09-10T19:41:45Z</dcterms:created>
  <dcterms:modified xsi:type="dcterms:W3CDTF">2026-09-10T19:41:45Z</dcterms:modified>
</cp:coreProperties>
</file>