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ICANN — [Registrar (official definition)](https://www.icann.org/en/icann-acronyms-and-terms/registrar-en)
Julia Evans — [New Zine: How DNS Works!](https://jvns.ca/blog/2022/04/26/new-zine--how-dns-works-/)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1035 §3.3.13, SOA RDATA format](https://www.rfc-editor.org/rfc/rfc1035.html)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8659, DNS Certification Authority Authorization](https://www.rfc-editor.org/rfc/rfc8659.html)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AWS — [Route 53 routing policies](https://docs.aws.amazon.com/Route53/latest/DeveloperGuide/routing-policy.html)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Slack Engineering — [What happened during Slack's DNSSEC rollout](https://slack.engineering/what-happened-during-slacks-dnssec-rollout/)
Cloudflare — [How DNSSEC works](https://www.cloudflare.com/learning/dns/dnssec/how-dnssec-works/)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command -v dig
printf 'Delegated zone you own: '; read -r zone
label="csc436-$(uuidgen | tr 'A-F' 'a-f' | cut -c1-8)"
name="$label.$zone"
ns=$(dig +short NS "$zone" | head -n 1)
[ -n "$ns" ] || printf 'STOP: no nameserver; use offline evidence.\n'
printf 'label=%s\nname=%s\nserver=%s\n' "$label" "$name" "$ns"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Get-Command dig
$zone = Read-Host 'Already delegated DNS zone you own'
$label = 'csc436-' + [guid]::NewGuid().ToString('N').Substring(0,8)
$name = "$label.$zone"
$ns = dig +short NS $zone | Select-Object -First 1
if (-not $ns) { throw 'No NS answer; use the offline fallback.' }
$label
$name
$ns
SOURCES:
Course — [owned-domain lab](../lab.md)
ISC — [`dig`](https://bind9.readthedocs.io/en/latest/manpages.html#dig-dns-lookup-utility)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5737, documentation addresses](https://www.rfc-editor.org/rfc/rfc5737.html)
Course — [zone-change lab](../lab.md)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date -u '+%Y-%m-%dT%H:%M:%SZ'
dig "@$ns" "$name" A +norecurse
dig "@1.1.1.1" "$name" A
dig "@8.8.8.8" "$name" A
sleep 30
dig "@1.1.1.1" "$name" 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(Get-Date).ToUniversalTime().ToString('o')
dig "@$ns" $name A +norecurse
dig "@1.1.1.1" $name A
dig "@8.8.8.8" $name A
Start-Sleep -Seconds 30
dig "@1.1.1.1" $name A
SOURCES:
Course — [recursive versus authoritative evidence](../samples/dig-recursive-vs-authoritative.txt)
IETF — [RFC 2308, negative caching](https://www.rfc-editor.org/rfc/rfc2308.html)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2308 §5, caching negative answers](https://www.rfc-editor.org/rfc/rfc2308.html#section-5)
Course — [negative-cache evidence](../samples/dig-nxdomain.txt)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Course — [cutover and rollback exercise](../lab.md)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dig "@$ns" "$name" A +norecurse
dig "@1.1.1.1" "$name" 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dig "@$ns" $name A +norecurse
dig "@1.1.1.1" $name 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samples='./weeks/week02/samples'
cat "$samples/dig-recursive-vs-authoritative.txt"
cat "$samples/dig-nxdomain.txt"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$samples = '.\weeks\week02\samples'
Get-Content "$samples\dig-recursive-vs-authoritative.txt"
Get-Content "$samples\dig-nxdomain.txt"
SOURCES:
Course — [capture provenance](../samples/README.md)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ICANN — [Registrar (official definition)](https://www.icann.org/en/icann-acronyms-and-terms/registrar-en)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cann.org/en/icann-acronyms-and-terms/registrar-en" TargetMode="External"/><Relationship Id="rId2" Type="http://schemas.openxmlformats.org/officeDocument/2006/relationships/hyperlink" Target="https://jvns.ca/blog/2022/04/26/new-zine--how-dns-works-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1035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8659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aws.amazon.com/Route53/latest/DeveloperGuide/routing-policy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slack.engineering/what-happened-during-slacks-dnssec-rollout/" TargetMode="External"/><Relationship Id="rId2" Type="http://schemas.openxmlformats.org/officeDocument/2006/relationships/hyperlink" Target="https://www.cloudflare.com/learning/dns/dnssec/how-dnssec-works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../lab.md" TargetMode="External"/><Relationship Id="rId2" Type="http://schemas.openxmlformats.org/officeDocument/2006/relationships/hyperlink" Target="https://bind9.readthedocs.io/en/latest/manpages.html#dig-dns-lookup-utility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5737.html" TargetMode="External"/><Relationship Id="rId2" Type="http://schemas.openxmlformats.org/officeDocument/2006/relationships/hyperlink" Target="../lab.m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../samples/dig-recursive-vs-authoritative.txt" TargetMode="External"/><Relationship Id="rId2" Type="http://schemas.openxmlformats.org/officeDocument/2006/relationships/hyperlink" Target="https://www.rfc-editor.org/rfc/rfc2308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2308.html#section-5" TargetMode="External"/><Relationship Id="rId2" Type="http://schemas.openxmlformats.org/officeDocument/2006/relationships/hyperlink" Target="../samples/dig-nxdomain.tx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../lab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../samples/README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cann.org/en/icann-acronyms-and-terms/registrar-e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676400"/>
            <a:ext cx="952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038350"/>
            <a:ext cx="10287000" cy="18097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57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Owning a zone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685800" y="3943350"/>
            <a:ext cx="8953500" cy="857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Registrar, registry, DNS host — and the records you will actually configure tonight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685800" y="4991100"/>
            <a:ext cx="205740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991100"/>
            <a:ext cx="20574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2 · Block B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57500" y="4991100"/>
            <a:ext cx="14287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7500" y="4991100"/>
            <a:ext cx="14287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minutes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00550" y="4991100"/>
            <a:ext cx="22669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0550" y="4991100"/>
            <a:ext cx="22669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Updated 2026-09-05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Fictional CampusPulse case: Priya edited a zone nobody queries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280666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change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715006"/>
            <a:ext cx="5219700" cy="2670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registrar account shows an editable DNS zone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Priya changes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from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203.0.113.10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.44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UI says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Saved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but public answers never move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86500" y="2280666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ownership check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286500" y="2715006"/>
            <a:ext cx="5219700" cy="2670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NS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names a different host for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campuspulse.example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host owns the authoritative copy of the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record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Priya moves the change, lowers TTL first, and writes a rollback time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8341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4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one question that ends most DNS support tickets</a:t>
            </a:r>
            <a:endParaRPr lang="en-US" sz="3444" dirty="0"/>
          </a:p>
        </p:txBody>
      </p:sp>
      <p:sp>
        <p:nvSpPr>
          <p:cNvPr id="7" name="Text 5"/>
          <p:cNvSpPr/>
          <p:nvPr/>
        </p:nvSpPr>
        <p:spPr>
          <a:xfrm>
            <a:off x="685800" y="1791556"/>
            <a:ext cx="10820400" cy="1750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"My domain is broken" is never a single system's fault, because a domain is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systems</a:t>
            </a:r>
            <a:endParaRPr lang="en-US" sz="196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runs the TLD. The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sells you the name. The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 host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answers queries</a:t>
            </a:r>
            <a:endParaRPr lang="en-US" sz="196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can be three different companies, and usually are</a:t>
            </a:r>
            <a:endParaRPr lang="en-US" sz="196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Almost every DNS ticket is really "I edited the wrong one of these three"</a:t>
            </a:r>
            <a:endParaRPr lang="en-US" sz="1968" dirty="0"/>
          </a:p>
        </p:txBody>
      </p:sp>
      <p:sp>
        <p:nvSpPr>
          <p:cNvPr id="8" name="Shape 6"/>
          <p:cNvSpPr/>
          <p:nvPr/>
        </p:nvSpPr>
        <p:spPr>
          <a:xfrm>
            <a:off x="685800" y="3651617"/>
            <a:ext cx="10820400" cy="1938399"/>
          </a:xfrm>
          <a:prstGeom prst="roundRect">
            <a:avLst>
              <a:gd name="adj" fmla="val 235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651617"/>
            <a:ext cx="76200" cy="1938399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46867"/>
            <a:ext cx="10363200" cy="2187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045216"/>
            <a:ext cx="10363200" cy="145459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5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first: </a:t>
            </a:r>
            <a:pPr algn="l" indent="0" marL="0">
              <a:lnSpc>
                <a:spcPct val="136000"/>
              </a:lnSpc>
              <a:buNone/>
            </a:pPr>
            <a:r>
              <a:rPr lang="en-US" sz="1850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this a delegation problem or a record problem?</a:t>
            </a:r>
            <a:pPr algn="l" indent="0" marL="0">
              <a:lnSpc>
                <a:spcPct val="136000"/>
              </a:lnSpc>
              <a:buNone/>
            </a:pPr>
            <a:r>
              <a:rPr lang="en-US" sz="185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Delegation lives</a:t>
            </a:r>
            <a:endParaRPr lang="en-US" sz="185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5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the registrar. Records live at the DNS host. Different company, different</a:t>
            </a:r>
            <a:endParaRPr lang="en-US" sz="185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5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console, different blast radius.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ICANN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Registrar (official definition)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Julia Evans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 Zine: How DNS Works!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 holds what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1702308"/>
            <a:ext cx="10820400" cy="37459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562600"/>
            <a:ext cx="108204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organisations. Only one of them answers queries; only one of them can change who does.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80205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Delegation is two copies of the same fact, held by two parties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85800" y="1814421"/>
            <a:ext cx="10820400" cy="2213247"/>
          </a:xfrm>
          <a:prstGeom prst="roundRect">
            <a:avLst>
              <a:gd name="adj" fmla="val 247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14421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833471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parent's copy vs the child's copy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264001"/>
            <a:ext cx="10439400" cy="1637937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@a.edu-servers.net depaul.edu NS +norecurse 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parent: edu.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flags: qr;  ANSWER: 0, AUTHORITY: 4              # a referral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 172800  IN  NS  ns1.depaul.edu.        # TTL set by the registry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@ns1.depaul.edu depaul.edu NS +norecurse    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child: your zone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flags: qr aa;  ANSWER: 4                         # authoritative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  14400  IN  NS  ns1.depaul.edu.        # TTL set by you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85800" y="4158288"/>
            <a:ext cx="10820400" cy="1692791"/>
          </a:xfrm>
          <a:prstGeom prst="roundRect">
            <a:avLst>
              <a:gd name="adj" fmla="val 2701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158288"/>
            <a:ext cx="76200" cy="1692791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53538"/>
            <a:ext cx="10363200" cy="228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561047"/>
            <a:ext cx="10363200" cy="12043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3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parent's copy is what the world follows. You cannot edit it from your DNS</a:t>
            </a:r>
            <a:endParaRPr lang="en-US" sz="1934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93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 — you edit it at your </a:t>
            </a:r>
            <a:endParaRPr lang="en-US" sz="1934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93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pPr algn="l" indent="0" marL="0">
              <a:lnSpc>
                <a:spcPct val="136000"/>
              </a:lnSpc>
              <a:buNone/>
            </a:pPr>
            <a:r>
              <a:rPr lang="en-US" sz="193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and the registry publishes it.</a:t>
            </a:r>
            <a:endParaRPr lang="en-US" sz="19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37392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525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SOA is the zone's identity card</a:t>
            </a:r>
            <a:endParaRPr lang="en-US" sz="3525" dirty="0"/>
          </a:p>
        </p:txBody>
      </p:sp>
      <p:sp>
        <p:nvSpPr>
          <p:cNvPr id="7" name="Shape 5"/>
          <p:cNvSpPr/>
          <p:nvPr/>
        </p:nvSpPr>
        <p:spPr>
          <a:xfrm>
            <a:off x="685800" y="1384259"/>
            <a:ext cx="10820400" cy="2490639"/>
          </a:xfrm>
          <a:prstGeom prst="roundRect">
            <a:avLst>
              <a:gd name="adj" fmla="val 220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84259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403309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 SOA depaul.edu — seven fields, two you will actually set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833839"/>
            <a:ext cx="10439400" cy="1915329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@1.1.1.1 depaul.edu SOA +noall +answer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1800 IN SOA ns1.depaul.edu. networks.depaul.edu. (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3          ; serial   bump on every change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14400      ; refresh  secondary polls primary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1800       ; retry    after a failed poll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1209600    ; expire   secondary stops answering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900 )      ; minimum  NEGATIVE-cache TTL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002811"/>
            <a:ext cx="10820400" cy="1584276"/>
          </a:xfrm>
          <a:prstGeom prst="roundRect">
            <a:avLst>
              <a:gd name="adj" fmla="val 2886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002811"/>
            <a:ext cx="76200" cy="1584276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098061"/>
            <a:ext cx="10363200" cy="2238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401169"/>
            <a:ext cx="10363200" cy="10980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9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networks.depaul.edu.</a:t>
            </a:r>
            <a:pPr algn="l" indent="0" marL="0">
              <a:lnSpc>
                <a:spcPct val="136000"/>
              </a:lnSpc>
              <a:buNone/>
            </a:pPr>
            <a:r>
              <a:rPr lang="en-US" sz="189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an </a:t>
            </a:r>
            <a:pPr algn="l" indent="0" marL="0">
              <a:lnSpc>
                <a:spcPct val="136000"/>
              </a:lnSpc>
              <a:buNone/>
            </a:pPr>
            <a:r>
              <a:rPr lang="en-US" sz="189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address</a:t>
            </a:r>
            <a:pPr algn="l" indent="0" marL="0">
              <a:lnSpc>
                <a:spcPct val="136000"/>
              </a:lnSpc>
              <a:buNone/>
            </a:pPr>
            <a:r>
              <a:rPr lang="en-US" sz="189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the first dot standing in for</a:t>
            </a:r>
            <a:endParaRPr lang="en-US" sz="1894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9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endParaRPr lang="en-US" sz="1894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9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pPr algn="l" indent="0" marL="0">
              <a:lnSpc>
                <a:spcPct val="136000"/>
              </a:lnSpc>
              <a:buNone/>
            </a:pPr>
            <a:r>
              <a:rPr lang="en-US" sz="189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It is </a:t>
            </a:r>
            <a:pPr algn="l" indent="0" marL="0">
              <a:lnSpc>
                <a:spcPct val="136000"/>
              </a:lnSpc>
              <a:buNone/>
            </a:pPr>
            <a:r>
              <a:rPr lang="en-US" sz="189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networks@depaul.edu</a:t>
            </a:r>
            <a:pPr algn="l" indent="0" marL="0">
              <a:lnSpc>
                <a:spcPct val="136000"/>
              </a:lnSpc>
              <a:buNone/>
            </a:pPr>
            <a:r>
              <a:rPr lang="en-US" sz="189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This trips up everyone exactly once.</a:t>
            </a:r>
            <a:endParaRPr lang="en-US" sz="1894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1035 §3.3.13, SOA RDATA format</a:t>
            </a:r>
            <a:endParaRPr lang="en-US" sz="12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209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working set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28900"/>
            <a:ext cx="1333500" cy="762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1465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Seven record types you will actually configure</a:t>
            </a:r>
            <a:endParaRPr lang="en-US" sz="4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record types you will actually use</a:t>
            </a:r>
            <a:endParaRPr lang="en-US" sz="4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Answers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trap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name → IPv4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Hard-codes an address you may not own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AAAA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name → IPv6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Missing it fails IPv6 clients silently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CNAME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name → a name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Illegal at the apex — next slide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TXT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255-char chunking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CAA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 may issue certs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Absent = any CA may issue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MX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mail goes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name, never an address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apex CNAME problem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26108"/>
            <a:ext cx="10820400" cy="2225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CNAME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means "this name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another name."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apex must hold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SOA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and usually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MX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and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CAA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CNAME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cannot coexist with those records.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a subdomain, so a CNAME is legal there.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apex needs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or flattening — useful, but not in any RFC.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85800" y="3984498"/>
            <a:ext cx="10820400" cy="1214628"/>
          </a:xfrm>
          <a:prstGeom prst="roundRect">
            <a:avLst>
              <a:gd name="adj" fmla="val 3764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984498"/>
            <a:ext cx="76200" cy="1214628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079748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422648"/>
            <a:ext cx="10363200" cy="389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put a CNAME at the zone apex.</a:t>
            </a:r>
            <a:endParaRPr lang="en-US" sz="2256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754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38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CAA: the record that says who is allowed to issue for you</a:t>
            </a:r>
            <a:endParaRPr lang="en-US" sz="3380" dirty="0"/>
          </a:p>
        </p:txBody>
      </p:sp>
      <p:sp>
        <p:nvSpPr>
          <p:cNvPr id="7" name="Shape 5"/>
          <p:cNvSpPr/>
          <p:nvPr/>
        </p:nvSpPr>
        <p:spPr>
          <a:xfrm>
            <a:off x="685800" y="1681821"/>
            <a:ext cx="10820400" cy="2345998"/>
          </a:xfrm>
          <a:prstGeom prst="roundRect">
            <a:avLst>
              <a:gd name="adj" fmla="val 233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1821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00871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 publishes a CAA policy; depaul.edu does not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31401"/>
            <a:ext cx="10439400" cy="17706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@1.1.1.1 github.com CAA +noall +answer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github.com. 3600 IN CAA 0 issue     "letsencrypt.org"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github.com. 3600 IN CAA 0 issuewild "letsencrypt.org"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... 5 more: digicert, sectigo, globalsign, 2 issuewild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@1.1.1.1 depaul.edu CAA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status: NOERROR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;; ANSWER: 0             &lt;- NODATA, and edu. has none either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150469"/>
            <a:ext cx="10820400" cy="1441881"/>
          </a:xfrm>
          <a:prstGeom prst="roundRect">
            <a:avLst>
              <a:gd name="adj" fmla="val 3171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150469"/>
            <a:ext cx="76200" cy="1441881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45719"/>
            <a:ext cx="10363200" cy="214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540275"/>
            <a:ext cx="10363200" cy="96000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1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</a:t>
            </a:r>
            <a:pPr algn="l" indent="0" marL="0">
              <a:lnSpc>
                <a:spcPct val="136000"/>
              </a:lnSpc>
              <a:buNone/>
            </a:pPr>
            <a:r>
              <a:rPr lang="en-US" sz="18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authorizes issuance; </a:t>
            </a:r>
            <a:pPr algn="l" indent="0" marL="0">
              <a:lnSpc>
                <a:spcPct val="136000"/>
              </a:lnSpc>
              <a:buNone/>
            </a:pPr>
            <a:r>
              <a:rPr lang="en-US" sz="181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issuewild</a:t>
            </a:r>
            <a:pPr algn="l" indent="0" marL="0">
              <a:lnSpc>
                <a:spcPct val="136000"/>
              </a:lnSpc>
              <a:buNone/>
            </a:pPr>
            <a:r>
              <a:rPr lang="en-US" sz="18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lnSpc>
                <a:spcPct val="136000"/>
              </a:lnSpc>
              <a:buNone/>
            </a:pPr>
            <a:r>
              <a:rPr lang="en-US" sz="181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overrides it for wildcards</a:t>
            </a:r>
            <a:pPr algn="l" indent="0" marL="0">
              <a:lnSpc>
                <a:spcPct val="136000"/>
              </a:lnSpc>
              <a:buNone/>
            </a:pPr>
            <a:r>
              <a:rPr lang="en-US" sz="18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when</a:t>
            </a:r>
            <a:endParaRPr lang="en-US" sz="1816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present. A CA must check this record — climbing to the parent if there is none.</a:t>
            </a:r>
            <a:endParaRPr lang="en-US" sz="181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8659, DNS Certification Authority Authorization</a:t>
            </a:r>
            <a:endParaRPr lang="en-US" sz="12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3026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9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TXT records carry other systems' truth, not yours</a:t>
            </a:r>
            <a:endParaRPr lang="en-US" sz="3494" dirty="0"/>
          </a:p>
        </p:txBody>
      </p:sp>
      <p:sp>
        <p:nvSpPr>
          <p:cNvPr id="7" name="Shape 5"/>
          <p:cNvSpPr/>
          <p:nvPr/>
        </p:nvSpPr>
        <p:spPr>
          <a:xfrm>
            <a:off x="685800" y="1739748"/>
            <a:ext cx="10820400" cy="2692251"/>
          </a:xfrm>
          <a:prstGeom prst="roundRect">
            <a:avLst>
              <a:gd name="adj" fmla="val 2038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3974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5879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 TXT depaul.edu — 21 records, elided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89328"/>
            <a:ext cx="10439400" cy="2116941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@1.1.1.1 depaul.edu TXT +noall +answer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86400 IN TXT "v=spf1 include:spf.protection.outlook.com"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 " include:_spf.google.com ... ~all"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86400 IN TXT "google-site-verification=GgecFA3L0pqdJ..."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86400 IN TXT "apple-domain-verification=fJm7Ug5BsVd0I7Fi"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86400 IN TXT "atlassian-domain-verification=tl5FjTuHJ..."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86400 IN TXT "ZOOM_verify_e622Dwe-Qi-ZMEJfMH3t1w"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                ... 16 more verification strings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558781"/>
            <a:ext cx="10820400" cy="1296137"/>
          </a:xfrm>
          <a:prstGeom prst="roundRect">
            <a:avLst>
              <a:gd name="adj" fmla="val 3527"/>
            </a:avLst>
          </a:prstGeom>
          <a:solidFill>
            <a:srgbClr val="13314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558781"/>
            <a:ext cx="76200" cy="1296137"/>
          </a:xfrm>
          <a:prstGeom prst="rect">
            <a:avLst/>
          </a:prstGeom>
          <a:solidFill>
            <a:srgbClr val="93C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654031"/>
            <a:ext cx="10363200" cy="2218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▸  NOTE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955302"/>
            <a:ext cx="10363200" cy="81085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7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one of these is a third party asking "prove you control this domain."</a:t>
            </a:r>
            <a:endParaRPr lang="en-US" sz="1877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7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of DNS </a:t>
            </a:r>
            <a:endParaRPr lang="en-US" sz="1877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7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</a:t>
            </a:r>
            <a:pPr algn="l" indent="0" marL="0">
              <a:lnSpc>
                <a:spcPct val="136000"/>
              </a:lnSpc>
              <a:buNone/>
            </a:pPr>
            <a:r>
              <a:rPr lang="en-US" sz="187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proof of ownership on the modern web.</a:t>
            </a:r>
            <a:endParaRPr lang="en-US" sz="187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209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part that is actually hard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28900"/>
            <a:ext cx="1333500" cy="762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1465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TTL is a decision, not a default</a:t>
            </a:r>
            <a:endParaRPr lang="en-US" sz="4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 TTL actually buys and costs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Long TTL — 86400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117598"/>
            <a:ext cx="5219700" cy="1335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Fewer queries, cheaper, faster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Survives an authoritative outage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mistake is live for a day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865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Short TTL — 60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286500" y="2117598"/>
            <a:ext cx="5219700" cy="1780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takes effect in a minute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Rollback is genuinely fast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query load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outage hits users in 60 s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cutover timeline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1702308"/>
            <a:ext cx="10820400" cy="37459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562600"/>
            <a:ext cx="108204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TTL drop must precede the change by at least the OLD TTL. That is the whole technique.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04089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zone with reasons: every TTL is a decision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85800" y="2064163"/>
            <a:ext cx="10820400" cy="3772383"/>
          </a:xfrm>
          <a:prstGeom prst="roundRect">
            <a:avLst>
              <a:gd name="adj" fmla="val 1454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064163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083213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campuspulse.example — exported zone, annotated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513743"/>
            <a:ext cx="10439400" cy="3197073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$ORIGIN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campuspulse.example.</a:t>
            </a:r>
            <a:endParaRPr lang="en-US" sz="18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     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3600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ns1.vendor.net.</a:t>
            </a:r>
            <a:endParaRPr lang="en-US" sz="18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     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3600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203.0.113.20</a:t>
            </a:r>
            <a:endParaRPr lang="en-US" sz="18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       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198.51.100.7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9FB6CA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 low: cutover window open</a:t>
            </a:r>
            <a:endParaRPr lang="en-US" sz="18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     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3600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AAAA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2001:db8::20</a:t>
            </a:r>
            <a:endParaRPr lang="en-US" sz="18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   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3600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CNAME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campuspulse.example.</a:t>
            </a:r>
            <a:endParaRPr lang="en-US" sz="18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status  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CNAME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edge.vendor.net.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9FB6CA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 low: may repoint</a:t>
            </a:r>
            <a:endParaRPr lang="en-US" sz="18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     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3600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MX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mail.vendor.net.</a:t>
            </a:r>
            <a:endParaRPr lang="en-US" sz="18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     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3600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CAA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issue "letsencrypt.org"</a:t>
            </a:r>
            <a:endParaRPr lang="en-US" sz="18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     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3600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TXT</a:t>
            </a:r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"v=spf1 include:_spf.vendor.net -all"</a:t>
            </a:r>
            <a:endParaRPr lang="en-US" sz="18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39882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7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Failover and geo-routing, in one slide</a:t>
            </a:r>
            <a:endParaRPr lang="en-US" sz="3474" dirty="0"/>
          </a:p>
        </p:txBody>
      </p:sp>
      <p:sp>
        <p:nvSpPr>
          <p:cNvPr id="7" name="Text 5"/>
          <p:cNvSpPr/>
          <p:nvPr/>
        </p:nvSpPr>
        <p:spPr>
          <a:xfrm>
            <a:off x="685800" y="1407771"/>
            <a:ext cx="10820400" cy="237665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authoritative server can answer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differently per query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that is all these features are</a:t>
            </a:r>
            <a:endParaRPr lang="en-US" sz="1985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Failover: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health-check the target, stop returning the address that fails</a:t>
            </a:r>
            <a:endParaRPr lang="en-US" sz="1985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Weighted: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return address A 90% of the time, B 10% — a canary</a:t>
            </a:r>
            <a:endParaRPr lang="en-US" sz="1985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 / geo: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answer based on where the query appeared to come from</a:t>
            </a:r>
            <a:endParaRPr lang="en-US" sz="1985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Recovery is bounded by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health-detection time + the remaining TTL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 every cached answer</a:t>
            </a:r>
            <a:endParaRPr lang="en-US" sz="1985" dirty="0"/>
          </a:p>
        </p:txBody>
      </p:sp>
      <p:sp>
        <p:nvSpPr>
          <p:cNvPr id="8" name="Shape 6"/>
          <p:cNvSpPr/>
          <p:nvPr/>
        </p:nvSpPr>
        <p:spPr>
          <a:xfrm>
            <a:off x="685800" y="3894731"/>
            <a:ext cx="10820400" cy="1694203"/>
          </a:xfrm>
          <a:prstGeom prst="roundRect">
            <a:avLst>
              <a:gd name="adj" fmla="val 2699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894731"/>
            <a:ext cx="76200" cy="1694203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989981"/>
            <a:ext cx="10363200" cy="2206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RECOGNITION LEVEL ONLY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290088"/>
            <a:ext cx="10363200" cy="120951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6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a concept tour, not a build. You are not implementing traffic management</a:t>
            </a:r>
            <a:endParaRPr lang="en-US" sz="1866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6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quarter. You </a:t>
            </a:r>
            <a:endParaRPr lang="en-US" sz="1866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6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</a:t>
            </a:r>
            <a:pPr algn="l" indent="0" marL="0">
              <a:lnSpc>
                <a:spcPct val="136000"/>
              </a:lnSpc>
              <a:buNone/>
            </a:pPr>
            <a:r>
              <a:rPr lang="en-US" sz="186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expected to recognise it in someone else's zone.</a:t>
            </a:r>
            <a:endParaRPr lang="en-US" sz="1866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Route 53 routing policies</a:t>
            </a:r>
            <a:endParaRPr lang="en-US" sz="12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3560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34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DNSSEC: read it at recognition level, and know why</a:t>
            </a:r>
            <a:endParaRPr lang="en-US" sz="3342" dirty="0"/>
          </a:p>
        </p:txBody>
      </p:sp>
      <p:sp>
        <p:nvSpPr>
          <p:cNvPr id="7" name="Text 5"/>
          <p:cNvSpPr/>
          <p:nvPr/>
        </p:nvSpPr>
        <p:spPr>
          <a:xfrm>
            <a:off x="685800" y="1740948"/>
            <a:ext cx="10820400" cy="191781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DNSSEC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cryptographic signatures over DNS answers;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RRSIG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NSEC3</a:t>
            </a:r>
            <a:endParaRPr lang="en-US" sz="191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already saw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RRSIG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records in the Block A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+trace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output</a:t>
            </a:r>
            <a:endParaRPr lang="en-US" sz="191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Slack's 2021 outage was a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DNSSEC rollout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that broke resolution for hours</a:t>
            </a:r>
            <a:endParaRPr lang="en-US" sz="191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Recognition level: know what a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record is for and that a broken chain is a hard failure</a:t>
            </a:r>
            <a:endParaRPr lang="en-US" sz="1910" dirty="0"/>
          </a:p>
        </p:txBody>
      </p:sp>
      <p:sp>
        <p:nvSpPr>
          <p:cNvPr id="8" name="Shape 6"/>
          <p:cNvSpPr/>
          <p:nvPr/>
        </p:nvSpPr>
        <p:spPr>
          <a:xfrm>
            <a:off x="685800" y="3764870"/>
            <a:ext cx="10820400" cy="1828869"/>
          </a:xfrm>
          <a:prstGeom prst="roundRect">
            <a:avLst>
              <a:gd name="adj" fmla="val 2500"/>
            </a:avLst>
          </a:prstGeom>
          <a:solidFill>
            <a:srgbClr val="13314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764870"/>
            <a:ext cx="76200" cy="1828869"/>
          </a:xfrm>
          <a:prstGeom prst="rect">
            <a:avLst/>
          </a:prstGeom>
          <a:solidFill>
            <a:srgbClr val="93C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860120"/>
            <a:ext cx="10363200" cy="2122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▸  NOTE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152419"/>
            <a:ext cx="10363200" cy="13481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7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Tested at recognition level only, per the course outline's depth note. The</a:t>
            </a:r>
            <a:endParaRPr lang="en-US" sz="1795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7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is in this week's prep and it is worth doing before Week 4's certificate</a:t>
            </a:r>
            <a:endParaRPr lang="en-US" sz="1795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7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work.</a:t>
            </a:r>
            <a:endParaRPr lang="en-US" sz="1795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Slack Engineering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happened during Slack's DNSSEC rollout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DNSSEC works</a:t>
            </a:r>
            <a:endParaRPr lang="en-US" sz="12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876300"/>
            <a:ext cx="2000250" cy="400050"/>
          </a:xfrm>
          <a:prstGeom prst="roundRect">
            <a:avLst>
              <a:gd name="adj" fmla="val 114286"/>
            </a:avLst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6300"/>
            <a:ext cx="20002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A1F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 LIVE DEMO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428750"/>
            <a:ext cx="10820400" cy="85420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Live: create a record, watch it become real</a:t>
            </a:r>
            <a:endParaRPr lang="en-US" sz="3612" dirty="0"/>
          </a:p>
        </p:txBody>
      </p:sp>
      <p:sp>
        <p:nvSpPr>
          <p:cNvPr id="9" name="Shape 7"/>
          <p:cNvSpPr/>
          <p:nvPr/>
        </p:nvSpPr>
        <p:spPr>
          <a:xfrm>
            <a:off x="685800" y="2608692"/>
            <a:ext cx="5238750" cy="3373008"/>
          </a:xfrm>
          <a:prstGeom prst="roundRect">
            <a:avLst>
              <a:gd name="adj" fmla="val 1355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50" y="2722992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THIS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914400" y="3065892"/>
            <a:ext cx="4781550" cy="24564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an already delegated zone you own; open its DNS host console</a:t>
            </a:r>
            <a:endParaRPr lang="en-US" sz="220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 your OS preparation; create only its new demo label</a:t>
            </a:r>
            <a:endParaRPr lang="en-US" sz="220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an authoritative answer with two recursive answers</a:t>
            </a:r>
            <a:endParaRPr lang="en-US" sz="2208" dirty="0"/>
          </a:p>
        </p:txBody>
      </p:sp>
      <p:sp>
        <p:nvSpPr>
          <p:cNvPr id="12" name="Shape 10"/>
          <p:cNvSpPr/>
          <p:nvPr/>
        </p:nvSpPr>
        <p:spPr>
          <a:xfrm>
            <a:off x="6267450" y="2608692"/>
            <a:ext cx="5238750" cy="1888885"/>
          </a:xfrm>
          <a:prstGeom prst="roundRect">
            <a:avLst>
              <a:gd name="adj" fmla="val 242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7000" y="2722992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 FOR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6496050" y="3065892"/>
            <a:ext cx="4781550" cy="120673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9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Authoritative and cached state may differ briefly</a:t>
            </a:r>
            <a:endParaRPr lang="en-US" sz="1991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9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NXDOMAIN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9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needs diagnosis, not an arbitrary wait</a:t>
            </a:r>
            <a:endParaRPr lang="en-US" sz="1991" dirty="0"/>
          </a:p>
        </p:txBody>
      </p:sp>
      <p:sp>
        <p:nvSpPr>
          <p:cNvPr id="15" name="Shape 13"/>
          <p:cNvSpPr/>
          <p:nvPr/>
        </p:nvSpPr>
        <p:spPr>
          <a:xfrm>
            <a:off x="6267450" y="4688076"/>
            <a:ext cx="5238750" cy="1293624"/>
          </a:xfrm>
          <a:prstGeom prst="roundRect">
            <a:avLst>
              <a:gd name="adj" fmla="val 3534"/>
            </a:avLst>
          </a:prstGeom>
          <a:solidFill>
            <a:srgbClr val="2C241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7000" y="4802376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IT FAILS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6496050" y="5145276"/>
            <a:ext cx="4781550" cy="6066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7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owned zone or </a:t>
            </a:r>
            <a:pPr algn="l" indent="0" marL="0">
              <a:lnSpc>
                <a:spcPct val="136000"/>
              </a:lnSpc>
              <a:buNone/>
            </a:pPr>
            <a:r>
              <a:rPr lang="en-US" sz="2079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</a:t>
            </a:r>
            <a:pPr algn="l" indent="0" marL="0">
              <a:lnSpc>
                <a:spcPct val="136000"/>
              </a:lnSpc>
              <a:buNone/>
            </a:pPr>
            <a:r>
              <a:rPr lang="en-US" sz="207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 Use the exact saved-evidence commands below.</a:t>
            </a:r>
            <a:endParaRPr lang="en-US" sz="2079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1338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97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prepare an isolated demo name</a:t>
            </a:r>
            <a:endParaRPr lang="en-US" sz="3974" dirty="0"/>
          </a:p>
        </p:txBody>
      </p:sp>
      <p:sp>
        <p:nvSpPr>
          <p:cNvPr id="7" name="Shape 5"/>
          <p:cNvSpPr/>
          <p:nvPr/>
        </p:nvSpPr>
        <p:spPr>
          <a:xfrm>
            <a:off x="685800" y="1535927"/>
            <a:ext cx="10820400" cy="2738725"/>
          </a:xfrm>
          <a:prstGeom prst="roundRect">
            <a:avLst>
              <a:gd name="adj" fmla="val 200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35927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554977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owned delegated zone; dig on PATH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985507"/>
            <a:ext cx="10439400" cy="2163415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-v dig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'Delegated zone you own: 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-r zone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label=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"csc436-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$(uuidgen | tr 'A-F' 'a-f' | cut -c1-8)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$label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$zone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ns=$(dig +short NS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$zone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|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-n 1)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 -n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] ||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'STOP: no nameserver; use offline evidence.\n'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'label=%s\nname=%s\nserver=%s\n'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$label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418841"/>
            <a:ext cx="10820400" cy="1418671"/>
          </a:xfrm>
          <a:prstGeom prst="roundRect">
            <a:avLst>
              <a:gd name="adj" fmla="val 3223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418841"/>
            <a:ext cx="76200" cy="1418671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14091"/>
            <a:ext cx="10363200" cy="252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843647"/>
            <a:ext cx="10363200" cy="73732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3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zone or server is blank, stop and use the fallback. A nameserver answer is not proof of ownership.</a:t>
            </a:r>
            <a:endParaRPr lang="en-US" sz="2134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Prepare an isolated demo name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3664458"/>
          </a:xfrm>
          <a:prstGeom prst="roundRect">
            <a:avLst>
              <a:gd name="adj" fmla="val 1497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owned delegated zone; dig on PATH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30891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Get-Command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dig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$zone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Read-Host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'Already delegated DNS zone you own'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$label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'csc436-'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+ [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]::NewGuid().ToString(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).Substring(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$label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$zone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dig +short NS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$zone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|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Select-Object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-First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(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-not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{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'No NS answer; use the offline fallback.'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}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$label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owned-domain lab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ISC — </a:t>
            </a:r>
            <a:pPr indent="0" marL="0">
              <a:buNone/>
            </a:pPr>
            <a:r>
              <a:rPr lang="en-US" sz="1275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dig</a:t>
            </a:r>
            <a:endParaRPr lang="en-US" sz="12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the DNS host console, save exactly one record</a:t>
            </a:r>
            <a:endParaRPr lang="en-US" sz="4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23516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Field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Enter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Why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Map the test label to IPv4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Name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printed $label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 not edit apex, mail, or www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Value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203.0.113.10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 address; no real service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TTL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60, or the allowed minimum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Record the value actually accepted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Proxy mode, if offered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DNS only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Keep the experiment about DNS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5737, documentation addresses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zone-change lab</a:t>
            </a:r>
            <a:endParaRPr lang="en-US" sz="12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569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93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query authority, then the caches</a:t>
            </a:r>
            <a:endParaRPr lang="en-US" sz="4093" dirty="0"/>
          </a:p>
        </p:txBody>
      </p:sp>
      <p:sp>
        <p:nvSpPr>
          <p:cNvPr id="7" name="Shape 5"/>
          <p:cNvSpPr/>
          <p:nvPr/>
        </p:nvSpPr>
        <p:spPr>
          <a:xfrm>
            <a:off x="685800" y="1582696"/>
            <a:ext cx="10820400" cy="2573954"/>
          </a:xfrm>
          <a:prstGeom prst="roundRect">
            <a:avLst>
              <a:gd name="adj" fmla="val 213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82696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01746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same Bash/zsh session as preparation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32276"/>
            <a:ext cx="10439400" cy="1998644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-u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'+%Y-%m-%dT%H:%M:%SZ'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 +norecurse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"@1.1.1.1"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"@8.8.8.8"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30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"@1.1.1.1"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305159"/>
            <a:ext cx="10820400" cy="1528031"/>
          </a:xfrm>
          <a:prstGeom prst="roundRect">
            <a:avLst>
              <a:gd name="adj" fmla="val 2992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305159"/>
            <a:ext cx="76200" cy="1528031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400409"/>
            <a:ext cx="10363200" cy="259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736987"/>
            <a:ext cx="10363200" cy="75941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9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the console edit, compare the authoritative answer with each cached answer and its remaining TTL.</a:t>
            </a:r>
            <a:endParaRPr lang="en-US" sz="2198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Query the source, then two caches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2690622"/>
          </a:xfrm>
          <a:prstGeom prst="roundRect">
            <a:avLst>
              <a:gd name="adj" fmla="val 203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PowerShell terminal - variables from the preparation slide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211531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Get-Date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).ToUniversalTime().ToString(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 +norecurse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"@1.1.1.1"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"@8.8.8.8"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Start-Sleep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-Seconds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"@1.1.1.1"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recursive versus authoritative evidence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2308, negative caching</a:t>
            </a:r>
            <a:endParaRPr lang="en-US" sz="12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DNS fields carry the conclusion?</a:t>
            </a:r>
            <a:endParaRPr lang="en-US" sz="4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 this field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Expected after publication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Interpretation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Authoritative flags include aa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record for 203.0.113.10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This authority serves the saved value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Recursive ANSWER address and TTL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Same address; its own remaining TTL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cache answers on its own clock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NXDOMAIN with an SOA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Authority and resolver may disagree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Inspect negative-cache lifetime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2308 §5, caching negative answers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negative-cache evidence</a:t>
            </a:r>
            <a:endParaRPr lang="en-US" sz="12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this changes about the CampusPulse cutover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280666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false reassurance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715006"/>
            <a:ext cx="5219700" cy="414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"The console saved it."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3262884"/>
            <a:ext cx="52197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only describes a control-plane action, not every resolver's answer.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86500" y="2280666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operational decision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286500" y="2715006"/>
            <a:ext cx="5219700" cy="414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authority and caches.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86500" y="3262884"/>
            <a:ext cx="5219700" cy="12435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 TTL before a real cutover; retain the old service during cache expiry.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cutover and rollback exercise</a:t>
            </a:r>
            <a:endParaRPr lang="en-US" sz="12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check the record after deletion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392174"/>
          </a:xfrm>
          <a:prstGeom prst="roundRect">
            <a:avLst>
              <a:gd name="adj" fmla="val 3941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same session; AFTER deleting only the new label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816864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 +norecurse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"@1.1.1.1"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170682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170682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65932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608832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only the generated demo record in the provider console. A recursive server can still return its cached answer.</a:t>
            </a:r>
            <a:endParaRPr lang="en-US" sz="2256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Delete only the demo record; verify the aftermath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2223516"/>
            <a:ext cx="10820400" cy="1392174"/>
          </a:xfrm>
          <a:prstGeom prst="roundRect">
            <a:avLst>
              <a:gd name="adj" fmla="val 3941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23516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242566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PowerShell terminal - AFTER deleting the new label in the console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673096"/>
            <a:ext cx="10439400" cy="816864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 +norecurse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"@1.1.1.1"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768090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768090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863340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206240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the record whose name matches 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$label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not the zone or its nameservers.</a:t>
            </a:r>
            <a:endParaRPr lang="en-US" sz="2256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the offline authority/cache comparison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2223516"/>
            <a:ext cx="10820400" cy="1716786"/>
          </a:xfrm>
          <a:prstGeom prst="roundRect">
            <a:avLst>
              <a:gd name="adj" fmla="val 319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23516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242566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repository root; no zone required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673096"/>
            <a:ext cx="10439400" cy="114147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samples=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'./weeks/week02/samples'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$samples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/dig-recursive-vs-authoritative.txt"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$samples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/dig-nxdomain.txt"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092702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092702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87952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530852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are the same archived examples used on Windows. Reading them creates no record, process, or cleanup task.</a:t>
            </a:r>
            <a:endParaRPr lang="en-US" sz="2256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4598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13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Offline fallback: authority, cache, and negative cache</a:t>
            </a:r>
            <a:endParaRPr lang="en-US" sz="4132" dirty="0"/>
          </a:p>
        </p:txBody>
      </p:sp>
      <p:sp>
        <p:nvSpPr>
          <p:cNvPr id="7" name="Shape 5"/>
          <p:cNvSpPr/>
          <p:nvPr/>
        </p:nvSpPr>
        <p:spPr>
          <a:xfrm>
            <a:off x="685800" y="2172835"/>
            <a:ext cx="10820400" cy="1673713"/>
          </a:xfrm>
          <a:prstGeom prst="roundRect">
            <a:avLst>
              <a:gd name="adj" fmla="val 3278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172835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191885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repository root; no zone required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622415"/>
            <a:ext cx="10439400" cy="1098403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$samples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'.\weeks\week02\samples'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$samples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\dig-recursive-vs-authoritative.txt"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$samples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\dig-nxdomain.txt"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996481"/>
            <a:ext cx="10820400" cy="1568586"/>
          </a:xfrm>
          <a:prstGeom prst="roundRect">
            <a:avLst>
              <a:gd name="adj" fmla="val 2915"/>
            </a:avLst>
          </a:prstGeom>
          <a:solidFill>
            <a:srgbClr val="13314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996481"/>
            <a:ext cx="76200" cy="1568586"/>
          </a:xfrm>
          <a:prstGeom prst="rect">
            <a:avLst/>
          </a:prstGeom>
          <a:solidFill>
            <a:srgbClr val="93C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091731"/>
            <a:ext cx="10363200" cy="2623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▸  NOTE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430622"/>
            <a:ext cx="10363200" cy="76669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1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are 2026-08-15 captures of other names, not a recording of your demo label.</a:t>
            </a:r>
            <a:endParaRPr lang="en-US" sz="2219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capture provenance</a:t>
            </a:r>
            <a:endParaRPr lang="en-US" sz="12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Owning a zone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30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47625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  ·  Solo (4 min) → cold call (3 min) → debrief (3 min)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zone changes. Which console, and what is the blast radius?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85800" y="3347466"/>
            <a:ext cx="10820400" cy="1780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at a new hosting provider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DNS from your registrar's free service to Cloudflare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CAA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record naming Let's Encrypt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the apex from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203.0.113.20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198.51.100.7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at 09:00 tomorrow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ICANN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Registrar (official definition)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DePaul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Owning a zone — Week 2 Block B</dc:title>
  <dc:subject>Registrar, registry, DNS host — and the records you will actually configure tonight</dc:subject>
  <dc:creator>Course staff</dc:creator>
  <cp:lastModifiedBy>Course staff</cp:lastModifiedBy>
  <cp:revision>1</cp:revision>
  <dcterms:created xsi:type="dcterms:W3CDTF">2026-09-10T19:41:44Z</dcterms:created>
  <dcterms:modified xsi:type="dcterms:W3CDTF">2026-09-10T19:41:44Z</dcterms:modified>
</cp:coreProperties>
</file>