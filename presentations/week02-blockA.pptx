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[Week 2 prep](../prep.md)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[syllabus](../../../docs/new_syllabus.md) · [course map](../../../docs/course-map.md)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AWS — [Service disruption in the N. Virginia (us-east-1) Region, 19–20 October 2025](https://aws.amazon.com/message/101925/)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Julia Evans — [New Zine: How DNS Works!](https://jvns.ca/blog/2022/04/26/new-zine--how-dns-works-/)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1034, Domain Names: Concepts and Facilities](https://www.rfc-editor.org/rfc/rfc1034.html)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dscacheutil -q host -a name docs.github.com
dns-sd -G v4 docs.github.com
# Ctrl+C after an Add row, or if no result appears after 10 s.
sleep 5
dns-sd -G v4 docs.github.com
# Ctrl+C again after recording the address and TTL.
SOURCES:
Apple — [dns-sd implementation and address/TTL output](https://github.com/apple-oss-distributions/mDNSResponder/blob/main/Clients/dns-sd.c)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Resolve-DnsName docs.github.com -Type A -DnsOnly | Out-Null
1..6 | ForEach-Object {
  (Get-Date).ToUniversalTime().ToString('HH:mm:ss')
  Get-DnsClientCache -Entry docs.github.com |
    Where-Object Type -eq 1 |
    Select-Object Entry, TimeToLive, Data
  Start-Sleep -Seconds 5
}
SOURCES:
Microsoft — [`Get-DnsClientCache`](https://learn.microsoft.com/powershell/module/dnsclient/get-dnsclientcache)
Course — [recorded countdown](../samples/os-cache-ttl-windows.txt)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name='depaul.edu'
dig "@1.1.1.1" "$name" A
dig "@8.8.8.8" "$name"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$name = 'depaul.edu'
Resolve-DnsName $name -Type A -Server 1.1.1.1 -DnsOnly
Resolve-DnsName $name -Type A -Server 8.8.8.8 -DnsOnly
SOURCES:
Microsoft — [`Resolve-DnsName`](https://learn.microsoft.com/powershell/module/dnsclient/resolve-dnsname)
Course — [resolver comparison](../samples/dig-split-answers.txt)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[split answers and provenance](../samples/dig-split-answers.txt)
IETF — [RFC 1034, caching](https://www.rfc-editor.org/rfc/rfc1034.html)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1034 §4.3.4, caching](https://www.rfc-editor.org/rfc/rfc1034.html#section-4.3.4)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cat ./weeks/week02/samples/os-cache-ttl-windows.txt
cat ./weeks/week02/samples/dig-split-answers.txt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Get-Content .\weeks\week02\samples\os-cache-ttl-windows.txt
Get-Content .\weeks\week02\samples\dig-split-answers.txt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Julia Evans — [New Zine: How DNS Works!](https://jvns.ca/blog/2022/04/26/new-zine--how-dns-works-/)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2308, Negative Caching of DNS Queries](https://www.rfc-editor.org/rfc/rfc2308.html)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8484, DNS Queries over HTTPS](https://www.rfc-editor.org/rfc/rfc8484.html) · [RFC 7858, DNS over TLS](https://www.rfc-editor.org/rfc/rfc7858.html)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2308, Negative Caching of DNS Queries](https://www.rfc-editor.org/rfc/rfc2308.html)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..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../../../docs/new_syllabus.md" TargetMode="External"/><Relationship Id="rId2" Type="http://schemas.openxmlformats.org/officeDocument/2006/relationships/hyperlink" Target="../../../docs/course-map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ws.amazon.com/message/101925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vns.ca/blog/2022/04/26/new-zine--how-dns-works-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034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pple-oss-distributions/mDNSResponder/blob/main/Clients/dns-sd.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dnsclient/get-dnsclientcache" TargetMode="External"/><Relationship Id="rId2" Type="http://schemas.openxmlformats.org/officeDocument/2006/relationships/hyperlink" Target="../samples/os-cache-ttl-window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powershell/module/dnsclient/resolve-dnsname" TargetMode="External"/><Relationship Id="rId2" Type="http://schemas.openxmlformats.org/officeDocument/2006/relationships/hyperlink" Target="../samples/dig-split-answer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dig-split-answers.txt" TargetMode="External"/><Relationship Id="rId2" Type="http://schemas.openxmlformats.org/officeDocument/2006/relationships/hyperlink" Target="https://www.rfc-editor.org/rfc/rfc1034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1034.html#section-4.3.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jvns.ca/blog/2022/04/26/new-zine--how-dns-works-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230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8484.html" TargetMode="External"/><Relationship Id="rId2" Type="http://schemas.openxmlformats.org/officeDocument/2006/relationships/hyperlink" Target="https://www.rfc-editor.org/rfc/rfc7858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230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Resolution, in depth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Stub to root to authoritative — who asks, who answers, who remembers, and for how long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· Block 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Recall the Week 1 journey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Retrieve the evidence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did name lookup fit in a fresh visit to a website?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did the socket table reveal about "works on localhost"?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observation changed your first explanation?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Bring that method forward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117598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control a domain or an assigned subdomain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what you can change and where you manage it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identify who answers a name lookup and who remembers the answer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Prelecture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230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5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tonight's prep already told you</a:t>
            </a:r>
            <a:endParaRPr lang="en-US" sz="3459" dirty="0"/>
          </a:p>
        </p:txBody>
      </p:sp>
      <p:sp>
        <p:nvSpPr>
          <p:cNvPr id="7" name="Text 5"/>
          <p:cNvSpPr/>
          <p:nvPr/>
        </p:nvSpPr>
        <p:spPr>
          <a:xfrm>
            <a:off x="685800" y="1431633"/>
            <a:ext cx="10820400" cy="28364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watched: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sequence of servers a query touches, stub to root to authoritative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read: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recursive/authoritative distinction, the DNS record reference table, and the registrar/registry/DNS-host distinction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predicted (readiness check):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why a colleague sees an old value minutes after your change — "propagation" is not an accepted answer here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gives the mechanism: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which flags prove recursive vs. iterative, and which cache is holding that old answer</a:t>
            </a:r>
            <a:endParaRPr lang="en-US" sz="1977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Registrar vs. DNS 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7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properly in Block B, when you edit your own zone</a:t>
            </a:r>
            <a:endParaRPr lang="en-US" sz="1977" dirty="0"/>
          </a:p>
        </p:txBody>
      </p:sp>
      <p:sp>
        <p:nvSpPr>
          <p:cNvPr id="8" name="Shape 6"/>
          <p:cNvSpPr/>
          <p:nvPr/>
        </p:nvSpPr>
        <p:spPr>
          <a:xfrm>
            <a:off x="685800" y="4377909"/>
            <a:ext cx="10820400" cy="1211570"/>
          </a:xfrm>
          <a:prstGeom prst="roundRect">
            <a:avLst>
              <a:gd name="adj" fmla="val 377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77909"/>
            <a:ext cx="76200" cy="121157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73159"/>
            <a:ext cx="10363200" cy="219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72381"/>
            <a:ext cx="10363200" cy="6418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5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"DNS propagation" was your instinct, today replaces it with a cache and a clock you can name.</a:t>
            </a:r>
            <a:endParaRPr lang="en-US" sz="1858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2 prep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week, operationally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3560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Tonight's lab needs your own domain.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you used the Week 1 hardship path, your delegated subdomain works exactly the same way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solo work.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 zone, your registrar login, your cutover — no shared submissions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Milestone 2 — Architecture.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Today's zone plan and TTL decision go into it; Weeks 1–2 milestones are ungraded formative checkpoints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HW2 is assigned at the end of class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the brief and rubric are on the closing slides, after Block 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syllabus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 map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one name, two correct answers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9:00 a.m. — the cutover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 moves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203.0.113.10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.44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Maya's campus resolver still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.10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Luis asks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1.1.1.1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gets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.44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9:07 a.m. — inspect the clocks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Maya's cached answer has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1127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public resolver's answer has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58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"still propagating"; two caches forget on different schedules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7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0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failure was a name with no address</a:t>
            </a:r>
            <a:endParaRPr lang="en-US" sz="3709" dirty="0"/>
          </a:p>
        </p:txBody>
      </p:sp>
      <p:sp>
        <p:nvSpPr>
          <p:cNvPr id="7" name="Text 5"/>
          <p:cNvSpPr/>
          <p:nvPr/>
        </p:nvSpPr>
        <p:spPr>
          <a:xfrm>
            <a:off x="685800" y="1472895"/>
            <a:ext cx="10820400" cy="238585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Amazon's DynamoDB DNS automation hit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latent race condition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its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us-east-1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region</a:t>
            </a:r>
            <a:endParaRPr lang="en-US" sz="2119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result: an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DNS record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dynamodb.us-east-1.amazonaws.com</a:t>
            </a:r>
            <a:endParaRPr lang="en-US" sz="2119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automation that should have repaired it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not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because the record looked intentional</a:t>
            </a:r>
            <a:endParaRPr lang="en-US" sz="2119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errors ran 11:48 PM to 2:40 AM; the knock-on to NLB and EC2 ran until 2:20 PM</a:t>
            </a:r>
            <a:endParaRPr lang="en-US" sz="2119" dirty="0"/>
          </a:p>
        </p:txBody>
      </p:sp>
      <p:sp>
        <p:nvSpPr>
          <p:cNvPr id="8" name="Shape 6"/>
          <p:cNvSpPr/>
          <p:nvPr/>
        </p:nvSpPr>
        <p:spPr>
          <a:xfrm>
            <a:off x="685800" y="3976502"/>
            <a:ext cx="10820400" cy="1603919"/>
          </a:xfrm>
          <a:prstGeom prst="roundRect">
            <a:avLst>
              <a:gd name="adj" fmla="val 285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76502"/>
            <a:ext cx="76200" cy="160391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71752"/>
            <a:ext cx="10363200" cy="235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85692"/>
            <a:ext cx="10363200" cy="10322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9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server was down. No code was deployed. A name pointed at nothing, and every</a:t>
            </a:r>
            <a:endParaRPr lang="en-US" sz="1992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9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that depended on that name pointed at nothing too.</a:t>
            </a:r>
            <a:endParaRPr lang="en-US" sz="1992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 disruption in the N. Virginia (us-east-1) Region, 19–20 October 2025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8917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model in your head is probably a phone book</a:t>
            </a:r>
            <a:endParaRPr lang="en-US" sz="3664" dirty="0"/>
          </a:p>
        </p:txBody>
      </p:sp>
      <p:sp>
        <p:nvSpPr>
          <p:cNvPr id="7" name="Text 5"/>
          <p:cNvSpPr/>
          <p:nvPr/>
        </p:nvSpPr>
        <p:spPr>
          <a:xfrm>
            <a:off x="685800" y="1905891"/>
            <a:ext cx="10820400" cy="19928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phone book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book, held by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party, that you read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</a:t>
            </a:r>
            <a:endParaRPr lang="en-US" sz="209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is a distributed database with at least four independent caches on the path</a:t>
            </a:r>
            <a:endParaRPr lang="en-US" sz="209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holds the whole thing. Every participant knows only who to ask next</a:t>
            </a:r>
            <a:endParaRPr lang="en-US" sz="209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"the" answer to a name — there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answer, right now, from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0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resolver</a:t>
            </a:r>
            <a:endParaRPr lang="en-US" sz="2094" dirty="0"/>
          </a:p>
        </p:txBody>
      </p:sp>
      <p:sp>
        <p:nvSpPr>
          <p:cNvPr id="8" name="Shape 6"/>
          <p:cNvSpPr/>
          <p:nvPr/>
        </p:nvSpPr>
        <p:spPr>
          <a:xfrm>
            <a:off x="685800" y="4015079"/>
            <a:ext cx="10820400" cy="1566978"/>
          </a:xfrm>
          <a:prstGeom prst="roundRect">
            <a:avLst>
              <a:gd name="adj" fmla="val 2918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15079"/>
            <a:ext cx="76200" cy="1566978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10329"/>
            <a:ext cx="10363200" cy="232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THE MYTH WE KILL TODAY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421612"/>
            <a:ext cx="10363200" cy="10197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"DNS propagation." Nothing propagates. Nothing is pushed anywhere. Records are
</a:t>
            </a:r>
            <a:pPr algn="l" indent="0" marL="0">
              <a:lnSpc>
                <a:spcPct val="136000"/>
              </a:lnSpc>
              <a:buNone/>
            </a:pPr>
            <a:r>
              <a:rPr lang="en-US" sz="196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pulled</a:t>
            </a:r>
            <a:pPr algn="l" indent="0" marL="0">
              <a:lnSpc>
                <a:spcPct val="136000"/>
              </a:lnSpc>
              <a:buNone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demand and </a:t>
            </a:r>
            <a:pPr algn="l" indent="0" marL="0">
              <a:lnSpc>
                <a:spcPct val="136000"/>
              </a:lnSpc>
              <a:buNone/>
            </a:pPr>
            <a:r>
              <a:rPr lang="en-US" sz="196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cached</a:t>
            </a:r>
            <a:pPr algn="l" indent="0" marL="0">
              <a:lnSpc>
                <a:spcPct val="136000"/>
              </a:lnSpc>
              <a:buNone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a timer you chose.</a:t>
            </a:r>
            <a:endParaRPr lang="en-US" sz="1968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Julia Evans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Zine: How DNS Works!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is actually in the conversation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02308"/>
            <a:ext cx="10820400" cy="3745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62600"/>
            <a:ext cx="108204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participants. The stub asks once; the recursive resolver does all the walking.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words that get swapped constantly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Recursive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"Answer this for me."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665476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laptop asks its resolver once and waits. It does not follow referrals.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4042410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</a:t>
            </a:r>
            <a:pPr algn="l" indent="0" marL="0">
              <a:lnSpc>
                <a:spcPct val="136000"/>
              </a:lnSpc>
              <a:buNone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desired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Iterative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286500" y="2117598"/>
            <a:ext cx="5219700" cy="414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"Tell me who to ask next."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2665476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resolver asks the root, then the TLD, then the authoritative server.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86500" y="3627882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for the service it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the queries it sends.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 by hand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questions, three servers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758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 — ask a root server. It refuses to answer.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1139"/>
            <a:ext cx="10820400" cy="3094930"/>
          </a:xfrm>
          <a:prstGeom prst="roundRect">
            <a:avLst>
              <a:gd name="adj" fmla="val 177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113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018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@a.root-servers.net depaul.edu A +norecurse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0719"/>
            <a:ext cx="10439400" cy="251962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@a.root-servers.net depaul.edu A +norecurse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NOERROR, id: 56760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qr; QUERY: 1, ANSWER: 0, AUTHORITY: 13, ADDITIONAL: 27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edu.          172800  IN  NS  a.edu-servers.net.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edu.          172800  IN  NS  b.edu-servers.net.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... 11 more edu. nameservers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ADDITIONAL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a.edu-servers.net.  172800  IN  A     192.5.6.30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SERVER: 198.41.0.4#53(a.root-servers.net) (UDP)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4804941"/>
            <a:ext cx="10820400" cy="1057887"/>
          </a:xfrm>
          <a:prstGeom prst="roundRect">
            <a:avLst>
              <a:gd name="adj" fmla="val 4322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804941"/>
            <a:ext cx="76200" cy="1057887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00191"/>
            <a:ext cx="1036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88608"/>
            <a:ext cx="10363200" cy="5791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 0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</a:t>
            </a:r>
            <a:pPr algn="l" indent="0" marL="0">
              <a:lnSpc>
                <a:spcPct val="136000"/>
              </a:lnSpc>
              <a:buNone/>
            </a:pPr>
            <a:r>
              <a:rPr lang="en-US" sz="17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 in AUTHORITY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 </a:t>
            </a:r>
            <a:pPr algn="l" indent="0" marL="0">
              <a:lnSpc>
                <a:spcPct val="136000"/>
              </a:lnSpc>
              <a:buNone/>
            </a:pPr>
            <a:r>
              <a:rPr lang="en-US" sz="176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Flags are 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only — no
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this is not an authoritative answer.</a:t>
            </a:r>
            <a:endParaRPr lang="en-US" sz="1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1793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2 — ask the TLD. It also refuses.</a:t>
            </a:r>
            <a:endParaRPr lang="en-US" sz="3349" dirty="0"/>
          </a:p>
        </p:txBody>
      </p:sp>
      <p:sp>
        <p:nvSpPr>
          <p:cNvPr id="7" name="Shape 5"/>
          <p:cNvSpPr/>
          <p:nvPr/>
        </p:nvSpPr>
        <p:spPr>
          <a:xfrm>
            <a:off x="685800" y="1323475"/>
            <a:ext cx="10820400" cy="3276047"/>
          </a:xfrm>
          <a:prstGeom prst="roundRect">
            <a:avLst>
              <a:gd name="adj" fmla="val 1675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347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4252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@a.edu-servers.net depaul.edu A +norecurse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73055"/>
            <a:ext cx="10439400" cy="270073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@a.edu-servers.net depaul.edu A +norecurse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NOERROR, id: 46795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qr; QUERY: 1, ANSWER: 0, AUTHORITY: 4, ADDITIONAL: 5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172800  IN  NS  ns1.depaul.edu.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172800  IN  NS  ns2.depaul.edu.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... ns3 and ns4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ADDITIONAL SECTION: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ns1.depaul.edu.  172800  IN  A  140.192.0.2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SERVER: 192.5.6.30#53(a.edu-servers.net) (UDP)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4721049"/>
            <a:ext cx="10820400" cy="1139125"/>
          </a:xfrm>
          <a:prstGeom prst="roundRect">
            <a:avLst>
              <a:gd name="adj" fmla="val 401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21049"/>
            <a:ext cx="76200" cy="113912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16299"/>
            <a:ext cx="10363200" cy="212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09030"/>
            <a:ext cx="10363200" cy="6581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delegation.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These NS records live in the </a:t>
            </a:r>
            <a:pPr algn="l" indent="0" marL="0">
              <a:lnSpc>
                <a:spcPct val="136000"/>
              </a:lnSpc>
              <a:buNone/>
            </a:pPr>
            <a:r>
              <a:rPr lang="en-US" sz="1799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zone (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edu.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</a:t>
            </a:r>
            <a:endParaRPr lang="en-US" sz="1799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in DePaul's. Changing nameservers means changing this.</a:t>
            </a:r>
            <a:endParaRPr lang="en-US" sz="179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026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83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3 — ask the authoritative server. Now you get an answer.</a:t>
            </a:r>
            <a:endParaRPr lang="en-US" sz="3283" dirty="0"/>
          </a:p>
        </p:txBody>
      </p:sp>
      <p:sp>
        <p:nvSpPr>
          <p:cNvPr id="7" name="Shape 5"/>
          <p:cNvSpPr/>
          <p:nvPr/>
        </p:nvSpPr>
        <p:spPr>
          <a:xfrm>
            <a:off x="685800" y="1614000"/>
            <a:ext cx="10820400" cy="3031251"/>
          </a:xfrm>
          <a:prstGeom prst="roundRect">
            <a:avLst>
              <a:gd name="adj" fmla="val 181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1400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3305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@ns1.depaul.edu depaul.edu A +norecurse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63580"/>
            <a:ext cx="10439400" cy="2455941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@ns1.depaul.edu depaul.edu A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NOERROR, id: 37664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aa; QUERY: 1, ANSWER: 1, AUTHORITY: 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 SECTION: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86400  IN  A 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 14400  IN  NS  ns1.depaul.edu.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SERVER: 140.192.0.2#53(ns1.depaul.edu) (UDP)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764359"/>
            <a:ext cx="10820400" cy="1098233"/>
          </a:xfrm>
          <a:prstGeom prst="roundRect">
            <a:avLst>
              <a:gd name="adj" fmla="val 416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64359"/>
            <a:ext cx="76200" cy="109823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59609"/>
            <a:ext cx="10363200" cy="208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48410"/>
            <a:ext cx="10363200" cy="61926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indent="0" marL="0">
              <a:lnSpc>
                <a:spcPct val="136000"/>
              </a:lnSpc>
              <a:buNone/>
            </a:pPr>
            <a:r>
              <a:rPr lang="en-US" sz="176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 answer</a:t>
            </a:r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Only a server configured to hold this zone sets</a:t>
            </a:r>
            <a:endParaRPr lang="en-US" sz="176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6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flag. It is the end of the chain.</a:t>
            </a:r>
            <a:endParaRPr lang="en-US" sz="176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</a:t>
            </a:r>
            <a:pPr algn="l" indent="0" marL="0">
              <a:lnSpc>
                <a:spcPct val="112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does all three, and shows its work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2971"/>
            <a:ext cx="10820400" cy="3027591"/>
          </a:xfrm>
          <a:prstGeom prst="roundRect">
            <a:avLst>
              <a:gd name="adj" fmla="val 181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297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2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+trace depaul.edu A  (elided to the referral boundaries)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51"/>
            <a:ext cx="10439400" cy="2452281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 depaul.edu A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           516715 IN NS a.root-servers.net.      &lt;- root hints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1.1.1.1#53(1.1.1.1)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edu.        172800 IN NS a.edu-servers.net.       &lt;- root referral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192.33.4.12#53(c.root-servers.net)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172800 IN NS ns1.depaul.edu.          &lt;- edu referral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192.33.14.30#53(b.edu-servers.net)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IN A  64.239.109.1             &lt;- the answer</a:t>
            </a:r>
            <a:endParaRPr lang="en-US" sz="172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72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Received from 140.192.0.2#53(ns1.depaul.edu)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685800" y="4739434"/>
            <a:ext cx="10820400" cy="856694"/>
          </a:xfrm>
          <a:prstGeom prst="roundRect">
            <a:avLst>
              <a:gd name="adj" fmla="val 5337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39434"/>
            <a:ext cx="76200" cy="856694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34684"/>
            <a:ext cx="10363200" cy="20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123101"/>
            <a:ext cx="10363200" cy="381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+trace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bottom-up. The last 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 from</a:t>
            </a:r>
            <a:pPr algn="l" indent="0" marL="0">
              <a:lnSpc>
                <a:spcPct val="136000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names the server that answered.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1034, Domain Names: Concepts and Facilities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answered? Two flags tell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recursive resolver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117598"/>
            <a:ext cx="52197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2567178"/>
            <a:ext cx="48387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rd ra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85555 IN A ...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986784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recursion available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is repeating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85555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counting down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authoritative server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286500" y="2117598"/>
            <a:ext cx="52197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89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7000" y="2567178"/>
            <a:ext cx="48387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@ns1... +norecurse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aa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86400 IN A ...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6500" y="3986784"/>
            <a:ext cx="5219700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 holds the zone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will not recurse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TTL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86400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zone value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 that bites you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Nobody forgets on your schedule</a:t>
            </a:r>
            <a:endParaRPr lang="en-US" sz="4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caches, four clocks, four operators</a:t>
            </a:r>
            <a:endParaRPr lang="en-US" sz="4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controls 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you clear 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browser vendor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Restart, or net-internals/#dns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 stub cache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You, on your machine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ipconfig /flushdns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Recursive resolver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ISP, or Cloudflare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cannot. Wait.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CDN / edge resolver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CDN vendor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purge, if offered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134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one cache expire, in real time</a:t>
            </a:r>
            <a:endParaRPr lang="en-US" sz="3319" dirty="0"/>
          </a:p>
        </p:txBody>
      </p:sp>
      <p:sp>
        <p:nvSpPr>
          <p:cNvPr id="7" name="Shape 5"/>
          <p:cNvSpPr/>
          <p:nvPr/>
        </p:nvSpPr>
        <p:spPr>
          <a:xfrm>
            <a:off x="685800" y="1318213"/>
            <a:ext cx="10820400" cy="3079646"/>
          </a:xfrm>
          <a:prstGeom prst="roundRect">
            <a:avLst>
              <a:gd name="adj" fmla="val 178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1821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3726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OS resolver cache — docs.github.com, zone TTL 30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67793"/>
            <a:ext cx="10439400" cy="25043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Clear-DnsClientCache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 docs.github.com -Type A | Out-Null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1..6 | % { Get-DnsClientCache -Entry docs.github.com;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5 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19:52:43Z  docs.github.com   TTL=  30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19:52:48Z  docs.github.com   TTL=  24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19:52:53Z  docs.github.com   TTL=  19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19:52:58Z  docs.github.com   TTL=  14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19:53:03Z  docs.github.com   TTL=   9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19:53:08Z  docs.github.com   TTL=   4   185.199.110.154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 TTL=0 the entry is evicted and the next lookup leaves the machine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518303"/>
            <a:ext cx="10820400" cy="1342954"/>
          </a:xfrm>
          <a:prstGeom prst="roundRect">
            <a:avLst>
              <a:gd name="adj" fmla="val 340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18303"/>
            <a:ext cx="76200" cy="134295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13553"/>
            <a:ext cx="10363200" cy="210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904523"/>
            <a:ext cx="10363200" cy="8628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TTL is not a hint and not a target. It is a countdown that started the moment</a:t>
            </a:r>
            <a:endParaRPr lang="en-US" sz="178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cache was filled, and nothing you do at your DNS host restarts it.</a:t>
            </a:r>
            <a:endParaRPr lang="en-US" sz="178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1739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8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observe a native lookup</a:t>
            </a:r>
            <a:endParaRPr lang="en-US" sz="3984" dirty="0"/>
          </a:p>
        </p:txBody>
      </p:sp>
      <p:sp>
        <p:nvSpPr>
          <p:cNvPr id="7" name="Shape 5"/>
          <p:cNvSpPr/>
          <p:nvPr/>
        </p:nvSpPr>
        <p:spPr>
          <a:xfrm>
            <a:off x="685800" y="1540204"/>
            <a:ext cx="10820400" cy="2456824"/>
          </a:xfrm>
          <a:prstGeom prst="roundRect">
            <a:avLst>
              <a:gd name="adj" fmla="val 223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020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5925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internet; no administrator commands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89784"/>
            <a:ext cx="10439400" cy="188151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dscacheutil -q host -a name docs.github.com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dns-sd -G v4 docs.github.com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after an Add row, or if no result appears after 10 s.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5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dns-sd -G v4 docs.github.com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again after recording the address and TTL.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41576"/>
            <a:ext cx="10820400" cy="1428875"/>
          </a:xfrm>
          <a:prstGeom prst="roundRect">
            <a:avLst>
              <a:gd name="adj" fmla="val 320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41576"/>
            <a:ext cx="76200" cy="142887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36826"/>
            <a:ext cx="10363200" cy="25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66967"/>
            <a:ext cx="10363200" cy="73916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dns-sd reports the native resolver's address and TTL. This is an active lookup, not a dump of every cached record.</a:t>
            </a:r>
            <a:endParaRPr lang="en-US" sz="214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dns-sd implementation and address/TTL output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it: watch this machine's DNS cache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3339846"/>
          </a:xfrm>
          <a:prstGeom prst="roundRect">
            <a:avLst>
              <a:gd name="adj" fmla="val 164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any directory; internet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27645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docs.github.com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-DnsOnly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Out-Null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Get-Date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).ToUniversalTime().ToString(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'HH:mm:ss'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Get-DnsClientCache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-Entry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docs.github.com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Select-Object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Entry, TimeToLive,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Start-Sleep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-Seconds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Get-DnsClientCache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recorded countdown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compare the two recursive answers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outbound DNS to these resolvers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'depaul.edu'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"@1.1.1.1"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"@8.8.8.8"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SERVER, status, answer, and TTL. These replies come from the selected recursive resolvers, not your local cache.</a:t>
            </a:r>
            <a:endParaRPr lang="en-US" sz="225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it: compare two recursive answers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outbound DNS to public resolvers required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'depaul.edu'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-DnsOnly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Resolve-DnsName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-DnsOnly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—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Resolve-DnsName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resolver comparison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Interpret the comparison before changing anything</a:t>
            </a:r>
            <a:endParaRPr lang="en-US" sz="4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observation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Plausible mechanism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to conclude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Different remaining TTLs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Caches filled or refreshed at different times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cache age, not just the name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Different addresses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Cached older data or authoritative traffic steering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time, resolver, and authority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Matching answers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These two queries agree right now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 clients may still differ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split answers and provenance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1034, caching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 and Luis can both be reading valid cache state</a:t>
            </a:r>
            <a:endParaRPr lang="en-US" sz="4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Illustrative time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Maya's cache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Luis's cache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09:00, before edit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Old address; 600 seconds remain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entry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09:01, record changed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Still old; 540 seconds remain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Fetches new authoritative 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09:05, compare browsers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Still old; 300 seconds remain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address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Maya's entry expires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 lookup can fetch the new value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Independent timer continues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1034 §4.3.4, caching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read the same offline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./weeks/week02/samples/os-cache-ttl-windows.txt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./weeks/week02/samples/dig-split-answers.txt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70682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0682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5932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608832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file is a Windows cache capture, not Mac output. Stop any dns-sd watch with Ctrl+C; no cache flush is needed.</a:t>
            </a:r>
            <a:endParaRPr lang="en-US" sz="225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caching question, different observations</a:t>
            </a:r>
            <a:endParaRPr lang="en-US" sz="4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Important limit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Windows cache command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local cached record and remaining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snapshot, not a browser trace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Mac native lookup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address and a reported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lookup may trigger fresh work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 to a named server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That resolver's answer and TTL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a dump of the OS cache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Offline comparison and a clean stopping point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1392174"/>
          </a:xfrm>
          <a:prstGeom prst="roundRect">
            <a:avLst>
              <a:gd name="adj" fmla="val 394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81686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.\weeks\week02\samples\os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-cache-ttl-windows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.\weeks\week02\samples\dig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-split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-answers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768090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768090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63340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capture date. No records, servers, or cache settings were changed.</a:t>
            </a:r>
            <a:endParaRPr lang="en-US" sz="2256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9636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"It hasn't propagated yet" is always the wrong sentence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1981432"/>
            <a:ext cx="10820400" cy="179447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pushed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any resolver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 recursive cache is notified</a:t>
            </a:r>
            <a:endParaRPr lang="en-US" sz="21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old value persists because a resolver already fetched it and is honoring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TTL</a:t>
            </a:r>
            <a:endParaRPr lang="en-US" sz="21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delay is not distance and not sync — it is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timer you chose</a:t>
            </a:r>
            <a:endParaRPr lang="en-US" sz="2172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fix is lowering the TTL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change, not after</a:t>
            </a:r>
            <a:endParaRPr lang="en-US" sz="2172" dirty="0"/>
          </a:p>
        </p:txBody>
      </p:sp>
      <p:sp>
        <p:nvSpPr>
          <p:cNvPr id="8" name="Shape 6"/>
          <p:cNvSpPr/>
          <p:nvPr/>
        </p:nvSpPr>
        <p:spPr>
          <a:xfrm>
            <a:off x="685800" y="3896569"/>
            <a:ext cx="10820400" cy="1680536"/>
          </a:xfrm>
          <a:prstGeom prst="roundRect">
            <a:avLst>
              <a:gd name="adj" fmla="val 2721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96569"/>
            <a:ext cx="76200" cy="168053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91819"/>
            <a:ext cx="10363200" cy="241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311149"/>
            <a:ext cx="10363200" cy="1057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0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Lowering the TTL after the cutover does nothing for caches already holding the</a:t>
            </a:r>
            <a:endParaRPr lang="en-US" sz="2041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04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 record at the old TTL.</a:t>
            </a:r>
            <a:endParaRPr lang="en-US" sz="2041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Julia Evans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Zine: How DNS Works!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1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is cached too, and the TTL comes from somewhere surprising</a:t>
            </a:r>
            <a:endParaRPr lang="en-US" sz="3401" dirty="0"/>
          </a:p>
        </p:txBody>
      </p:sp>
      <p:sp>
        <p:nvSpPr>
          <p:cNvPr id="7" name="Shape 5"/>
          <p:cNvSpPr/>
          <p:nvPr/>
        </p:nvSpPr>
        <p:spPr>
          <a:xfrm>
            <a:off x="685800" y="1685662"/>
            <a:ext cx="10820400" cy="2570768"/>
          </a:xfrm>
          <a:prstGeom prst="roundRect">
            <a:avLst>
              <a:gd name="adj" fmla="val 213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566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471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 @1.1.1.1 nonexistent-week2-demo.depaul.edu A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5242"/>
            <a:ext cx="10439400" cy="199545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nonexistent-week2-demo.depaul.edu 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;; -&gt;&gt;HEADER&lt;&lt;- opcode: QUERY, status: NXDOMAIN, id: 61390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flags: qr rd ra; QUERY: 1, ANSWER: 0, AUTHORITY: 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SECTION: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900  IN  SOA  ns1.depaul.edu. networks.depaul.edu.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3 14400 1800 1209600 900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           ^^^ minimum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379830"/>
            <a:ext cx="10820400" cy="1211770"/>
          </a:xfrm>
          <a:prstGeom prst="roundRect">
            <a:avLst>
              <a:gd name="adj" fmla="val 3773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79830"/>
            <a:ext cx="76200" cy="1211770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75080"/>
            <a:ext cx="10363200" cy="21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770855"/>
            <a:ext cx="10363200" cy="7292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indent="0" marL="0">
              <a:lnSpc>
                <a:spcPct val="136000"/>
              </a:lnSpc>
              <a:buNone/>
            </a:pPr>
            <a:r>
              <a:rPr lang="en-US" sz="182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</a:t>
            </a:r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field of the SOA — here </a:t>
            </a:r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is the negative-cache TTL. The</a:t>
            </a:r>
            <a:endParaRPr lang="en-US" sz="182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record's own TTL does not apply, because there is no record.</a:t>
            </a:r>
            <a:endParaRPr lang="en-US" sz="1827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2308, Negative Caching of DNS Queries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NXDOMAIN and NODATA are not the same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NODATA — the name exists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85800" y="2117598"/>
            <a:ext cx="52197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2567178"/>
            <a:ext cx="48387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depaul.edu CAA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status: NOERROR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ANSWER: 0, AUTHORITY: 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holds SOA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311396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 is real; this </a:t>
            </a:r>
            <a:pPr algn="l" indent="0" marL="0">
              <a:lnSpc>
                <a:spcPct val="136000"/>
              </a:lnSpc>
              <a:buNone/>
            </a:pPr>
            <a:r>
              <a:rPr lang="en-US" sz="240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not.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SOA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AUTHORITY is the tell.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referral looks identical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286500" y="2117598"/>
            <a:ext cx="52197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89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7000" y="2567178"/>
            <a:ext cx="48387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@a.root-servers.net ...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status: NOERROR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ANSWER: 0, AUTHORITY: 13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;; AUTHORITY holds 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6500" y="4311396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status, same zero answers.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AUTHORITY means "ask elsewhere."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46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name, same second, three different answers</a:t>
            </a:r>
            <a:endParaRPr lang="en-US" sz="3349" dirty="0"/>
          </a:p>
        </p:txBody>
      </p:sp>
      <p:sp>
        <p:nvSpPr>
          <p:cNvPr id="7" name="Shape 5"/>
          <p:cNvSpPr/>
          <p:nvPr/>
        </p:nvSpPr>
        <p:spPr>
          <a:xfrm>
            <a:off x="685800" y="1652164"/>
            <a:ext cx="10820400" cy="2928060"/>
          </a:xfrm>
          <a:prstGeom prst="roundRect">
            <a:avLst>
              <a:gd name="adj" fmla="val 187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5216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7121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name, three public resolvers, run back to back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01744"/>
            <a:ext cx="10439400" cy="235275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@1.1.1.1 www.microsoft.com 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www.microsoft.com.  3584  IN  CNAME  ...edgekey.net.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e13678.dscb.akamaiedge.net.  4  IN  A  23.0.194.92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@8.8.8.8 www.microsoft.com 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www.microsoft.com.  1494  IN  CNAME  ...edgekey.net.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e13678.dscb.akamaiedge.net.  20  IN  A  23.0.194.92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@9.9.9.9 www.microsoft.com A +noall +answer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www.microsoft.com.  2061  IN  CNAME  ...edgekey.net.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e13678.dscb.akamaiedge.net.  17  IN  A  184.28.10.89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701733"/>
            <a:ext cx="10820400" cy="1158458"/>
          </a:xfrm>
          <a:prstGeom prst="roundRect">
            <a:avLst>
              <a:gd name="adj" fmla="val 394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701733"/>
            <a:ext cx="76200" cy="115845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96983"/>
            <a:ext cx="10363200" cy="212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089685"/>
            <a:ext cx="10363200" cy="67751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 addresses </a:t>
            </a:r>
            <a:pPr algn="l" indent="0" marL="0">
              <a:lnSpc>
                <a:spcPct val="136000"/>
              </a:lnSpc>
              <a:buNone/>
            </a:pPr>
            <a:r>
              <a:rPr lang="en-US" sz="17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different TTL remainders. Neither is wrong. There is</a:t>
            </a:r>
            <a:endParaRPr lang="en-US" sz="1799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correct answer to "what does this name resolve to."</a:t>
            </a:r>
            <a:endParaRPr lang="en-US" sz="1799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022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2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 one resolver IP is many caches</a:t>
            </a:r>
            <a:endParaRPr lang="en-US" sz="3622" dirty="0"/>
          </a:p>
        </p:txBody>
      </p:sp>
      <p:sp>
        <p:nvSpPr>
          <p:cNvPr id="7" name="Shape 5"/>
          <p:cNvSpPr/>
          <p:nvPr/>
        </p:nvSpPr>
        <p:spPr>
          <a:xfrm>
            <a:off x="685800" y="1415185"/>
            <a:ext cx="10820400" cy="2607664"/>
          </a:xfrm>
          <a:prstGeom prst="roundRect">
            <a:avLst>
              <a:gd name="adj" fmla="val 2104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518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3423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back-to-back queries to the SAME address, 1.1.1.1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864765"/>
            <a:ext cx="10439400" cy="203235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i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 2 3 4 5 6;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dig @1.1.1.1 depaul.edu A +noall +answer;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86290  IN  A  64.239.109.1     &lt;- 110 s older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86290  IN  A  64.239.109.1     &lt;- same older node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depaul.edu.  86400  IN  A  64.239.109.1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54267"/>
            <a:ext cx="10820400" cy="1696016"/>
          </a:xfrm>
          <a:prstGeom prst="roundRect">
            <a:avLst>
              <a:gd name="adj" fmla="val 2696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54267"/>
            <a:ext cx="76200" cy="1696016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49517"/>
            <a:ext cx="10363200" cy="2299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58320"/>
            <a:ext cx="10363200" cy="12069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1.1.1.1</a:t>
            </a:r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an </a:t>
            </a:r>
            <a:pPr algn="l" indent="0" marL="0">
              <a:lnSpc>
                <a:spcPct val="136000"/>
              </a:lnSpc>
              <a:buNone/>
            </a:pPr>
            <a:r>
              <a:rPr lang="en-US" sz="194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anycast</a:t>
            </a:r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address announced from hundreds of sites, each with</a:t>
            </a:r>
            <a:endParaRPr lang="en-US" sz="194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94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cache — and each site load-balances across several machines.</a:t>
            </a:r>
            <a:endParaRPr lang="en-US" sz="194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356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4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DoH and DoT move the conversation, not the answer</a:t>
            </a:r>
            <a:endParaRPr lang="en-US" sz="3342" dirty="0"/>
          </a:p>
        </p:txBody>
      </p:sp>
      <p:sp>
        <p:nvSpPr>
          <p:cNvPr id="7" name="Text 5"/>
          <p:cNvSpPr/>
          <p:nvPr/>
        </p:nvSpPr>
        <p:spPr>
          <a:xfrm>
            <a:off x="685800" y="1740948"/>
            <a:ext cx="10820400" cy="191781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DNS over TLS, port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853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Encrypted, but on a port that is obviously DNS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DoH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DNS over HTTPS, port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443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Encrypted, and hard to distinguish from web traffic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resolution logic is unchanged — same recursion, same caches, same TTLs</a:t>
            </a:r>
            <a:endParaRPr lang="en-US" sz="191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is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see and who can intercept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10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resolver you ask</a:t>
            </a:r>
            <a:endParaRPr lang="en-US" sz="1910" dirty="0"/>
          </a:p>
        </p:txBody>
      </p:sp>
      <p:sp>
        <p:nvSpPr>
          <p:cNvPr id="8" name="Shape 6"/>
          <p:cNvSpPr/>
          <p:nvPr/>
        </p:nvSpPr>
        <p:spPr>
          <a:xfrm>
            <a:off x="685800" y="3764870"/>
            <a:ext cx="10820400" cy="1828869"/>
          </a:xfrm>
          <a:prstGeom prst="roundRect">
            <a:avLst>
              <a:gd name="adj" fmla="val 2500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764870"/>
            <a:ext cx="76200" cy="1828869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60120"/>
            <a:ext cx="10363200" cy="212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WHAT ACTUALLY BREAKS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152419"/>
            <a:ext cx="10363200" cy="13481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Split-horizon DNS. A browser using DoH to a public resolver bypasses the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or campus resolver that serves internal-only names — so </a:t>
            </a:r>
            <a:endParaRPr lang="en-US" sz="179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intranet. depaul.edu</a:t>
            </a:r>
            <a:pPr algn="l" indent="0" marL="0">
              <a:lnSpc>
                <a:spcPct val="136000"/>
              </a:lnSpc>
              <a:buNone/>
            </a:pPr>
            <a:r>
              <a:rPr lang="en-US" sz="17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stops resolving on a machine that is physically on the network.</a:t>
            </a:r>
            <a:endParaRPr lang="en-US" sz="17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8484, DNS Queries over HTTPS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7858, DNS over TLS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3434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7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DoH really is just an HTTPS request</a:t>
            </a:r>
            <a:endParaRPr lang="en-US" sz="3407" dirty="0"/>
          </a:p>
        </p:txBody>
      </p:sp>
      <p:sp>
        <p:nvSpPr>
          <p:cNvPr id="7" name="Shape 5"/>
          <p:cNvSpPr/>
          <p:nvPr/>
        </p:nvSpPr>
        <p:spPr>
          <a:xfrm>
            <a:off x="685800" y="1341475"/>
            <a:ext cx="10820400" cy="3199586"/>
          </a:xfrm>
          <a:prstGeom prst="roundRect">
            <a:avLst>
              <a:gd name="adj" fmla="val 1715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4147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6052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Cloudflare's DoH JSON API — the same fields dig shows you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91055"/>
            <a:ext cx="10439400" cy="26242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"accept: application/dns-json"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"https://cloudflare-dns.com/dns-query?name=depaul.edu&amp;type=A"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{"Status":0,"TC":false,"RD":true,"RA":true,"AD":false,"CD":false,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"Question":[{"name":"depaul.edu","type":1}],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"Answer":[{"name":"depaul.edu","type":1,"TTL":86400,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"data":"64.239.109.1"}]}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 on the wire: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Connected to cloudflare-dns.com (104.16.249.249) port 443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ALPN: server accepted h2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 /dns-query?name=depaul.edu&amp;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 HTTP/2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HTTP/2 200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664704"/>
            <a:ext cx="10820400" cy="1193352"/>
          </a:xfrm>
          <a:prstGeom prst="roundRect">
            <a:avLst>
              <a:gd name="adj" fmla="val 3831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64704"/>
            <a:ext cx="76200" cy="1193352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59954"/>
            <a:ext cx="10363200" cy="216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056125"/>
            <a:ext cx="10363200" cy="710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JSON API is a </a:t>
            </a:r>
            <a:pPr algn="l" indent="0" marL="0">
              <a:lnSpc>
                <a:spcPct val="136000"/>
              </a:lnSpc>
              <a:buNone/>
            </a:pPr>
            <a:r>
              <a:rPr lang="en-US" sz="18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 convenience</a:t>
            </a:r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Standard DoH (RFC 8484) carries the</a:t>
            </a:r>
            <a:endParaRPr lang="en-US" sz="183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wire format as </a:t>
            </a:r>
            <a:endParaRPr lang="en-US" sz="183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application/dns-message</a:t>
            </a:r>
            <a:pPr algn="l" indent="0" marL="0">
              <a:lnSpc>
                <a:spcPct val="136000"/>
              </a:lnSpc>
              <a:buNone/>
            </a:pPr>
            <a:r>
              <a:rPr lang="en-US" sz="18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How a name resolves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changed an A record 20 minutes ago. Three people see three different things.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1780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see the new address immediately from your laptop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second device you own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same wifi, still shows the old address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grader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gets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NXDOMAIN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hostname you created 5 minutes ago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2308, Negative Caching of DNS Queries</a:t>
            </a:r>
            <a:endParaRPr lang="en-US" sz="12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W02·A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Continue with B/C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1465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Continue with Blocks B and C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Resolution, in depth — Week 2 Block A</dc:title>
  <dc:subject>Stub to root to authoritative — who asks, who answers, who remembers, and for how long</dc:subject>
  <dc:creator>Course staff</dc:creator>
  <cp:lastModifiedBy>Course staff</cp:lastModifiedBy>
  <cp:revision>1</cp:revision>
  <dcterms:created xsi:type="dcterms:W3CDTF">2026-09-10T19:41:44Z</dcterms:created>
  <dcterms:modified xsi:type="dcterms:W3CDTF">2026-09-10T19:41:44Z</dcterms:modified>
</cp:coreProperties>
</file>