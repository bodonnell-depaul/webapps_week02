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9110 §15.4, Redirection 3xx](https://www.rfc-editor.org/rfc/rfc9110.html)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curl — [manual page, `--request`](https://curl.se/docs/manpage.html)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MDN — [X-Forwarded-Proto](https://developer.mozilla.org/en-US/docs/Web/HTTP/Reference/Headers/X-Forwarded-Proto)
IETF — [RFC 7239, Forwarded HTTP Extension](https://www.rfc-editor.org/rfc/rfc7239.html)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# Default ports are 8081-8084.
# Busy? Add --port 9100; use 9100-9103 in ALL later requests.
node ./weeks/week02/samples/http-faults/fault-server.mjs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# Expected on loopback: 8081 Host, 8082 redirect, 8083 app, 8084 proxy.
# Busy ports? Add --port 9100; use ports 9100-9103 in later commands.
node .\weeks\week02\samples\http-faults\fault-server.mjs
SOURCES:
Course — [HTTP fault server](../samples/http-faults/fault-server.mjs)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printf '%s\r\n' 'GET /healthz HTTP/1.1' \
  'Host: status.campuspulse.example' 'Connection: close' '' |
  nc -w 5 127.0.0.1 8081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$c = [Net.Sockets.TcpClient]::new('127.0.0.1', 8081)
$c.ReceiveTimeout = 5000
try {
  $s = $c.GetStream()
  $req = "GET /healthz HTTP/1.1`r`nHost: "
  $req += "status.campuspulse.example`r`nConnection: close`r`n`r`n"
  $b = [Text.Encoding]::ASCII.GetBytes($req)
  $s.Write($b, 0, $b.Length)
  [IO.StreamReader]::new($s).ReadToEnd()
} finally { $c.Dispose() }
SOURCES:
Course — [raw-request lab](../lab.md)
IETF — [RFC 9112 §2.1, message format](https://www.rfc-editor.org/rfc/rfc9112.html#section-2.1)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url='http://127.0.0.1:8081/healthz'
curl --noproxy '*' -i --max-time 5 "$url" \
  -H 'Host: status.campuspulse.example'
curl --noproxy '*' -i --max-time 5 "$url" \
  -H 'Host: www.campuspulse.example'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$url = 'http://127.0.0.1:8081/healthz'
curl.exe --noproxy '*' -i --max-time 5 $url `
  -H 'Host: status.campuspulse.example'
curl.exe --noproxy '*' -i --max-time 5 $url `
  -H 'Host: www.campuspulse.example'
SOURCES:
Course — [host-routing capture](../samples/http-faults/fault-1-host-header.txt)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base='http://127.0.0.1:8082'
curl --noproxy '*' -v -L --max-redirs 4 --max-time 5 \
  -d 'service=library-wifi' "$base/legacy/incidents"
curl --noproxy '*' -v --max-time 5 \
  -d 'service=library-wifi' "$base/api/incidents"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$base = 'http://127.0.0.1:8082'
curl.exe --noproxy '*' -v -L --max-redirs 4 --max-time 5 `
  -d 'service=library-wifi' "$base/legacy/incidents"
curl.exe --noproxy '*' -v --max-time 5 `
  -d 'service=library-wifi' "$base/api/incidents"
SOURCES:
Course — [redirect and method capture](../samples/http-faults/fault-2-redirect-chain.txt)
curl — [redirect behavior](https://curl.se/docs/manpage.html)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9110 §15.4.3, 302](https://www.rfc-editor.org/rfc/rfc9110.html#section-15.4.3)
Course — [fault implementation](../samples/http-faults/fault-server.mjs)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curl --noproxy '*' -I -L --max-redirs 3 --max-time 5 \
  http://127.0.0.1:8084/healthz
curl --noproxy '*' -i --max-time 5 \
  http://127.0.0.1:8083/healthz -H 'X-Forwarded-Proto: https'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curl.exe --noproxy '*' -I -L --max-redirs 3 --max-time 5 `
  http://127.0.0.1:8084/healthz
curl.exe --noproxy '*' -i --max-time 5 `
  http://127.0.0.1:8083/healthz -H 'X-Forwarded-Proto: https'
SOURCES:
Course — [proxy-header capture](../samples/http-faults/fault-3-x-forwarded-proto.txt)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samples='./weeks/week02/samples/http-faults'
cat "$samples/fault-1-host-header.txt"
cat "$samples/fault-2-redirect-chain.txt"
cat "$samples/fault-3-x-forwarded-proto.txt"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PLAIN-TEXT COMMANDS:
Copy from here or the Markdown/HTML source; colored PowerPoint code uses nonbreaking spaces for layout.
$samples = '.\weeks\week02\samples\http-faults'
Get-Content "$samples\fault-1-host-header.txt"
Get-Content "$samples\fault-2-redirect-chain.txt"
Get-Content "$samples\fault-3-x-forwarded-proto.txt"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IETF — [RFC 9110, HTTP Semantics](https://www.rfc-editor.org/rfc/rfc9110.html)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
Course — [HW2 handout](../homework.md) · [evidence standard](../../../docs/evidence-standard.md)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110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rl.se/docs/manpage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developer.mozilla.org/en-US/docs/Web/HTTP/Reference/Headers/X-Forwarded-Proto" TargetMode="External"/><Relationship Id="rId2" Type="http://schemas.openxmlformats.org/officeDocument/2006/relationships/hyperlink" Target="https://www.rfc-editor.org/rfc/rfc7239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../samples/http-faults/fault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hyperlink" Target="https://www.rfc-editor.org/rfc/rfc9112.html#section-2.1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../samples/http-faults/fault-1-host-header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../samples/http-faults/fault-2-redirect-chain.txt" TargetMode="External"/><Relationship Id="rId2" Type="http://schemas.openxmlformats.org/officeDocument/2006/relationships/hyperlink" Target="https://curl.se/docs/manpage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110.html#section-15.4.3" TargetMode="External"/><Relationship Id="rId2" Type="http://schemas.openxmlformats.org/officeDocument/2006/relationships/hyperlink" Target="../samples/http-faults/fault-server.mj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../samples/http-faults/fault-3-x-forwarded-proto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110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../homework.md" TargetMode="External"/><Relationship Id="rId2" Type="http://schemas.openxmlformats.org/officeDocument/2006/relationships/hyperlink" Target="../homework.md" TargetMode="External"/><Relationship Id="rId3" Type="http://schemas.openxmlformats.org/officeDocument/2006/relationships/hyperlink" Target="../../../docs/evidence-standard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hyperlink" Target="../../week03/prep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8097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5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 as a contract</a:t>
            </a:r>
            <a:endParaRPr lang="en-US" sz="5700" dirty="0"/>
          </a:p>
        </p:txBody>
      </p:sp>
      <p:sp>
        <p:nvSpPr>
          <p:cNvPr id="8" name="Text 6"/>
          <p:cNvSpPr/>
          <p:nvPr/>
        </p:nvSpPr>
        <p:spPr>
          <a:xfrm>
            <a:off x="685800" y="3943350"/>
            <a:ext cx="8953500" cy="857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Methods, status codes, and the handful of headers that decide whether your request means anything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05740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0574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 · Block C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57500" y="4991100"/>
            <a:ext cx="14287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7500" y="4991100"/>
            <a:ext cx="14287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40055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055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2026-09-05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a redirect quietly drops the report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request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mobile client sends a report with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HTTP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edge answers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302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points to the HTTPS URL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client follows the redirect as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JSON body is gone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2280666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contract repair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715006"/>
            <a:ext cx="5219700" cy="26700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307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preserves the method and body for a temporary redirect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308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preserves them for a permanent redirect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is the followed request line, not the first response alone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8648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1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HTTP request is text you could have typed</a:t>
            </a:r>
            <a:endParaRPr lang="en-US" sz="3419" dirty="0"/>
          </a:p>
        </p:txBody>
      </p:sp>
      <p:sp>
        <p:nvSpPr>
          <p:cNvPr id="7" name="Shape 5"/>
          <p:cNvSpPr/>
          <p:nvPr/>
        </p:nvSpPr>
        <p:spPr>
          <a:xfrm>
            <a:off x="685800" y="1693928"/>
            <a:ext cx="10820400" cy="2815448"/>
          </a:xfrm>
          <a:prstGeom prst="roundRect">
            <a:avLst>
              <a:gd name="adj" fmla="val 194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392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1297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request and response, hand-written over netcat (headers elided)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43508"/>
            <a:ext cx="10439400" cy="224013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'GET /healthz HTTP/1.1\r\nHost: status.campuspulse.example\r\n\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Connection: close\r\n\r\n'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 nc 127.0.0.1 8081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HTTP/1.1 200 OK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 campuspulse-fault-lab/1.0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 application/json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Content-Length: 39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Vary: Accept-Encoding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... Date and Connection also returned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{"status":"ok","service":"campuspulse"}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633437"/>
            <a:ext cx="10820400" cy="1224201"/>
          </a:xfrm>
          <a:prstGeom prst="roundRect">
            <a:avLst>
              <a:gd name="adj" fmla="val 373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33437"/>
            <a:ext cx="76200" cy="122420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28687"/>
            <a:ext cx="10363200" cy="217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025537"/>
            <a:ext cx="10363200" cy="74116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3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line, headers, blank line, body. Response line, headers, blank line,</a:t>
            </a:r>
            <a:endParaRPr lang="en-US" sz="1837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3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body. The blank line is not decoration — it is the delimiter.</a:t>
            </a:r>
            <a:endParaRPr lang="en-US" sz="1837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is how one IP serves many sites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does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TCP connection carries no name — only an address and a port.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80004"/>
            <a:ext cx="52197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how the server learns which of the 500 sites on that address you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wanted. Required in HTTP/1.1.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you will care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6286500" y="2117598"/>
            <a:ext cx="5219700" cy="3015234"/>
          </a:xfrm>
          <a:prstGeom prst="roundRect">
            <a:avLst>
              <a:gd name="adj" fmla="val 182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2117598"/>
            <a:ext cx="52197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8900" y="2136648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77000" y="2567178"/>
            <a:ext cx="4838700" cy="2439924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-sI 127.0.0.1:8081/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"Host: status.cp"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HTTP/1.1 200 OK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-sI 127.0.0.1:8081/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"Host: www.cp"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HTTP/1.1 404 Not Found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Safe and idempotent are different</a:t>
            </a:r>
            <a:endParaRPr lang="en-US" sz="4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Method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Safe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Idem.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that permits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Cache it, prefetch it, retry it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 as GET, headers only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Retry a timeout, no duplicate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DELETE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Retry; code may become 404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Never blind-retry. May charge twice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PATCH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Depends on your patch semantics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Status families, read operationally</a:t>
            </a:r>
            <a:endParaRPr lang="en-US" sz="4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26108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Family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Says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you actually do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2xx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worked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 the body — 200 can wrap an error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3xx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Look elsewhere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Count hops; did the method survive?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4xx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are wrong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Fix it — but 408/425/429 say retry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5xx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 am wrong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Retry with backoff — not POST, not 501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four redirects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old pair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301 Moved Permanently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302 Found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3080004"/>
            <a:ext cx="5219700" cy="12435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are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permitted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rewrite a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In practice they always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— the body is dropped.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pair that fixed it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286500" y="2117598"/>
            <a:ext cx="5219700" cy="8290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307 Temporary Redirect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308 Permanent Redirect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86500" y="3080004"/>
            <a:ext cx="5219700" cy="16581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and body </a:t>
            </a:r>
            <a:pPr algn="l" indent="0" marL="0">
              <a:lnSpc>
                <a:spcPct val="136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 preserved. Redirecting anything but a page view? Use</a:t>
            </a:r>
            <a:endParaRPr lang="en-US" sz="240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9110 §15.4, Redirection 3xx</a:t>
            </a:r>
            <a:endParaRPr lang="en-US" sz="12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1348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1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</a:t>
            </a:r>
            <a:pPr algn="l" indent="0" marL="0">
              <a:lnSpc>
                <a:spcPct val="112000"/>
              </a:lnSpc>
              <a:buNone/>
            </a:pPr>
            <a:r>
              <a:rPr lang="en-US" sz="3319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indent="0" marL="0">
              <a:lnSpc>
                <a:spcPct val="112000"/>
              </a:lnSpc>
              <a:buNone/>
            </a:pPr>
            <a:r>
              <a:rPr lang="en-US" sz="331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that quietly became a </a:t>
            </a:r>
            <a:pPr algn="l" indent="0" marL="0">
              <a:lnSpc>
                <a:spcPct val="112000"/>
              </a:lnSpc>
              <a:buNone/>
            </a:pPr>
            <a:r>
              <a:rPr lang="en-US" sz="3319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3319" dirty="0"/>
          </a:p>
        </p:txBody>
      </p:sp>
      <p:sp>
        <p:nvSpPr>
          <p:cNvPr id="7" name="Shape 5"/>
          <p:cNvSpPr/>
          <p:nvPr/>
        </p:nvSpPr>
        <p:spPr>
          <a:xfrm>
            <a:off x="685800" y="1318213"/>
            <a:ext cx="10820400" cy="3079646"/>
          </a:xfrm>
          <a:prstGeom prst="roundRect">
            <a:avLst>
              <a:gd name="adj" fmla="val 178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1821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3726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HW2 fault 2 — real capture, curl following a 302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67793"/>
            <a:ext cx="10439400" cy="250433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-sv -L -d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'{"service":"library-wifi","state":"degraded"}'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'Content-Type: application/json'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http://campuspulse.example:8082/legacy/incidents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 /legacy/incidents HTTP/1.1       &lt;- the request you wrote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HTTP/1.1 302 Found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 Location: http://campuspulse.example:8082/api/incidents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Switch from POST to GET               &lt;- curl obeying the spec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 /api/incidents HTTP/1.1           &lt;- the request that arrived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HTTP/1.1 405 Method Not Allowed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Allow: POST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{"error":"method_not_allowed","expected":"POST"}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518303"/>
            <a:ext cx="10820400" cy="1342954"/>
          </a:xfrm>
          <a:prstGeom prst="roundRect">
            <a:avLst>
              <a:gd name="adj" fmla="val 3404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18303"/>
            <a:ext cx="76200" cy="1342954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13553"/>
            <a:ext cx="10363200" cy="210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904523"/>
            <a:ext cx="10363200" cy="86289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405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lucky outcome. If 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 /api/incidents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had returned a 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list</a:t>
            </a:r>
            <a:endParaRPr lang="en-US" sz="1783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783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incidents, the client would have reported success and created nothing.</a:t>
            </a:r>
            <a:endParaRPr lang="en-US" sz="178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7392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525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tool will lie to you if you let it</a:t>
            </a:r>
            <a:endParaRPr lang="en-US" sz="3525" dirty="0"/>
          </a:p>
        </p:txBody>
      </p:sp>
      <p:sp>
        <p:nvSpPr>
          <p:cNvPr id="7" name="Shape 5"/>
          <p:cNvSpPr/>
          <p:nvPr/>
        </p:nvSpPr>
        <p:spPr>
          <a:xfrm>
            <a:off x="685800" y="1384259"/>
            <a:ext cx="10820400" cy="2490639"/>
          </a:xfrm>
          <a:prstGeom prst="roundRect">
            <a:avLst>
              <a:gd name="adj" fmla="val 220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8425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40330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SAME request, with -X POST added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833839"/>
            <a:ext cx="10439400" cy="1915329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-sv -L -X POST -d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'{...}'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http://campuspulse.example:8082/legacy/incidents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HTTP/1.1 302 Found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 Switch from POST to GET                &lt;- curl says it switched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&gt;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 /api/incidents HTTP/1.1           &lt;- but -X forced POST anyway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 HTTP/1.1 201 Created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{"created":true}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002811"/>
            <a:ext cx="10820400" cy="1584276"/>
          </a:xfrm>
          <a:prstGeom prst="roundRect">
            <a:avLst>
              <a:gd name="adj" fmla="val 2886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02811"/>
            <a:ext cx="76200" cy="1584276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98061"/>
            <a:ext cx="10363200" cy="2238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401169"/>
            <a:ext cx="10363200" cy="109806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-X POST</a:t>
            </a:r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overrides curl's method handling on redirects. The transcript now shows</a:t>
            </a:r>
            <a:endParaRPr lang="en-US" sz="1894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9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— and no longer reproduces the bug your users are reporting.</a:t>
            </a:r>
            <a:endParaRPr lang="en-US" sz="1894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manual page, </a:t>
            </a:r>
            <a:pPr indent="0" marL="0">
              <a:buNone/>
            </a:pP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--request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headers that carry meaning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request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117598"/>
            <a:ext cx="52197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which site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what I can parse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what I send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Authorization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who I am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Cookie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state the server gave me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683258"/>
            <a:ext cx="52197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 the response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117598"/>
            <a:ext cx="5219700" cy="3560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Set-Cookie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state to hold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where to go next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how long it is good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what the cache key depends on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which methods this URL takes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325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38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Real headers, from a real response</a:t>
            </a:r>
            <a:endParaRPr lang="en-US" sz="3388" dirty="0"/>
          </a:p>
        </p:txBody>
      </p:sp>
      <p:sp>
        <p:nvSpPr>
          <p:cNvPr id="7" name="Shape 5"/>
          <p:cNvSpPr/>
          <p:nvPr/>
        </p:nvSpPr>
        <p:spPr>
          <a:xfrm>
            <a:off x="685800" y="1339183"/>
            <a:ext cx="10820400" cy="2977277"/>
          </a:xfrm>
          <a:prstGeom prst="roundRect">
            <a:avLst>
              <a:gd name="adj" fmla="val 184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33918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35823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-sSI -H 'Accept-Encoding: gzip' https://jvns.ca/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788763"/>
            <a:ext cx="10439400" cy="2401967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-sSI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"Accept-Encoding: gzip"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https://jvns.ca/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HTTP/2 200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 public,max-age=0,must-revalidate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cache-status: "Netlify Edge"; fwd=miss; fwd-status=200; stored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content-encoding: gzip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 text/html; charset=UTF-8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vary: Accept-Encoding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strict-transport-security: max-age=31536000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etag: "6008c0f02c21b4ab160180f6d8a36d15-ssl-df"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server: Netlify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439388"/>
            <a:ext cx="10820400" cy="1419385"/>
          </a:xfrm>
          <a:prstGeom prst="roundRect">
            <a:avLst>
              <a:gd name="adj" fmla="val 3221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39388"/>
            <a:ext cx="76200" cy="1419385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34638"/>
            <a:ext cx="10363200" cy="2151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829645"/>
            <a:ext cx="10363200" cy="93727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vary: Accept-Encoding</a:t>
            </a:r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plus </a:t>
            </a:r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content-encoding: gzip</a:t>
            </a:r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correct pair. The</a:t>
            </a:r>
            <a:endParaRPr lang="en-US" sz="1820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 is storing the compressed and uncompressed copies under different keys.</a:t>
            </a:r>
            <a:endParaRPr lang="en-US" sz="1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39882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74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X-Forwarded-*</a:t>
            </a:r>
            <a:pPr algn="l" indent="0" marL="0">
              <a:lnSpc>
                <a:spcPct val="112000"/>
              </a:lnSpc>
              <a:buNone/>
            </a:pPr>
            <a:r>
              <a:rPr lang="en-US" sz="347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is a claim, not a fact</a:t>
            </a:r>
            <a:endParaRPr lang="en-US" sz="3474" dirty="0"/>
          </a:p>
        </p:txBody>
      </p:sp>
      <p:sp>
        <p:nvSpPr>
          <p:cNvPr id="7" name="Text 5"/>
          <p:cNvSpPr/>
          <p:nvPr/>
        </p:nvSpPr>
        <p:spPr>
          <a:xfrm>
            <a:off x="685800" y="1407771"/>
            <a:ext cx="10820400" cy="237665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TLS-terminating proxy ends the client's connection and opens a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to your app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app sees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proxy's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address and protocol — true about the proxy, wrong about the client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proxy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asserts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client's details: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X-Forwarded-For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X-Forwarded-Proto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X-Forwarded-Host</a:t>
            </a:r>
            <a:endParaRPr lang="en-US" sz="1985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Anyone can send these headers.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They are trustworthy only from a proxy you control</a:t>
            </a:r>
            <a:endParaRPr lang="en-US" sz="1985" dirty="0"/>
          </a:p>
        </p:txBody>
      </p:sp>
      <p:sp>
        <p:nvSpPr>
          <p:cNvPr id="8" name="Shape 6"/>
          <p:cNvSpPr/>
          <p:nvPr/>
        </p:nvSpPr>
        <p:spPr>
          <a:xfrm>
            <a:off x="685800" y="3894731"/>
            <a:ext cx="10820400" cy="1694203"/>
          </a:xfrm>
          <a:prstGeom prst="roundRect">
            <a:avLst>
              <a:gd name="adj" fmla="val 2699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94731"/>
            <a:ext cx="76200" cy="1694203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89981"/>
            <a:ext cx="10363200" cy="220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290088"/>
            <a:ext cx="10363200" cy="12095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app that trusts </a:t>
            </a:r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X-Forwarded-For</a:t>
            </a:r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any source can be given any client IP</a:t>
            </a:r>
            <a:endParaRPr lang="en-US" sz="1866" dirty="0"/>
          </a:p>
          <a:p>
            <a:pPr algn="l" indent="0" marL="0">
              <a:lnSpc>
                <a:spcPct val="136000"/>
              </a:lnSpc>
              <a:buNone/>
            </a:pPr>
            <a:r>
              <a:rPr lang="en-US" sz="18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by any client — defeating rate limits, IP allowlists, and audit logs.</a:t>
            </a:r>
            <a:endParaRPr lang="en-US" sz="1866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X-Forwarded-Proto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7239, Forwarded HTTP Extension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8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2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letter-group wrong, and it redirects forever</a:t>
            </a:r>
            <a:endParaRPr lang="en-US" sz="3292" dirty="0"/>
          </a:p>
        </p:txBody>
      </p:sp>
      <p:sp>
        <p:nvSpPr>
          <p:cNvPr id="7" name="Shape 5"/>
          <p:cNvSpPr/>
          <p:nvPr/>
        </p:nvSpPr>
        <p:spPr>
          <a:xfrm>
            <a:off x="685800" y="1612030"/>
            <a:ext cx="10820400" cy="3248223"/>
          </a:xfrm>
          <a:prstGeom prst="roundRect">
            <a:avLst>
              <a:gd name="adj" fmla="val 168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1203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3108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HW2 fault 3 — trimmed capture; POSIX shell command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61610"/>
            <a:ext cx="10439400" cy="267291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1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-sSIL --max-redirs 4 \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2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--resolve status.campuspulse.example:8084:127.0.0.1 \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3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http://status.campuspulse.example:8084/healthz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4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5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HTTP/1.1 301 Moved Permanently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6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x-app-saw-xfp: (absent)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7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x-app-saw-forwarded-headers: x-forwarded-protocol, x-forwarded-for,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8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x-forwarded-host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9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 http://status.campuspulse.example:8084/healthz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10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x-proxy: campuspulse-lb/1.0 (terminates TLS)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11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              ... four identical hops elided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12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highlight>
                  <a:srgbClr val="3A2E07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curl: (47) Maximum (4) redirects followed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13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14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-sI -H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"X-Forwarded-Proto: https"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http://127.0.0.1:8083/healthz</a:t>
            </a:r>
            <a:endParaRPr lang="en-US" sz="1575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5174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15  </a:t>
            </a:r>
            <a:pPr indent="0" marL="0">
              <a:lnSpc>
                <a:spcPct val="142000"/>
              </a:lnSpc>
              <a:buNone/>
            </a:pPr>
            <a:r>
              <a:rPr lang="en-US" sz="1575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HTTP/1.1 200 OK              &lt;- the app is fine. the header was wrong.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685800" y="4979717"/>
            <a:ext cx="10820400" cy="882519"/>
          </a:xfrm>
          <a:prstGeom prst="roundRect">
            <a:avLst>
              <a:gd name="adj" fmla="val 518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979717"/>
            <a:ext cx="76200" cy="882519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5074967"/>
            <a:ext cx="10363200" cy="209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5364346"/>
            <a:ext cx="10363200" cy="4032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7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reads the Proto header; the proxy sends the differently named Protocol header.</a:t>
            </a:r>
            <a:endParaRPr lang="en-US" sz="1768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5137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Live: speak HTTP with your hands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094921"/>
            <a:ext cx="5238750" cy="3886779"/>
          </a:xfrm>
          <a:prstGeom prst="roundRect">
            <a:avLst>
              <a:gd name="adj" fmla="val 1176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09221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552121"/>
            <a:ext cx="4781550" cy="24564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the local fixture using your OS's A command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your OS's raw-request step in B; keep the destination fixed</a:t>
            </a:r>
            <a:endParaRPr lang="en-US" sz="22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only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succeeds;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fails</a:t>
            </a:r>
            <a:endParaRPr lang="en-US" sz="2208" dirty="0"/>
          </a:p>
        </p:txBody>
      </p:sp>
      <p:sp>
        <p:nvSpPr>
          <p:cNvPr id="12" name="Shape 10"/>
          <p:cNvSpPr/>
          <p:nvPr/>
        </p:nvSpPr>
        <p:spPr>
          <a:xfrm>
            <a:off x="6267450" y="2094921"/>
            <a:ext cx="5238750" cy="2176596"/>
          </a:xfrm>
          <a:prstGeom prst="roundRect">
            <a:avLst>
              <a:gd name="adj" fmla="val 2101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09221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552121"/>
            <a:ext cx="4781550" cy="81881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value returns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other returns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endParaRPr lang="en-US" sz="2208" dirty="0"/>
          </a:p>
        </p:txBody>
      </p:sp>
      <p:sp>
        <p:nvSpPr>
          <p:cNvPr id="15" name="Shape 13"/>
          <p:cNvSpPr/>
          <p:nvPr/>
        </p:nvSpPr>
        <p:spPr>
          <a:xfrm>
            <a:off x="6267450" y="4462017"/>
            <a:ext cx="5238750" cy="1519683"/>
          </a:xfrm>
          <a:prstGeom prst="roundRect">
            <a:avLst>
              <a:gd name="adj" fmla="val 3009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576317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919217"/>
            <a:ext cx="4781550" cy="7627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last command slide opens all three real fault transcripts.</a:t>
            </a:r>
            <a:endParaRPr lang="en-US" sz="220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A: start the same local faults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Node 18+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Default ports are 8081-8084.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Busy? Add --port 9100; use 9100-9103 in ALL later requests.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./weeks/week02/samples/http-faults/fault-server.mjs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95294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95294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054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933444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the four loopback listeners. Keep A running; if changing the base port, update every request URL too.</a:t>
            </a:r>
            <a:endParaRPr lang="en-US" sz="2256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A: start all three local faults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repository root; Node 18+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Expected on loopback: 8081 Host, 8082 redirect, 8083 app, 8084 proxy.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Busy ports? Add --port 9100; use ports 9100-9103 in later commands.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.\weeks\week02\samples\http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-faults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\fault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 fault server</a:t>
            </a:r>
            <a:endParaRPr lang="en-US" sz="12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write the HTTP bytes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1716786"/>
          </a:xfrm>
          <a:prstGeom prst="roundRect">
            <a:avLst>
              <a:gd name="adj" fmla="val 31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native nc; A still running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141476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'%s\r\n'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'GET /healthz HTTP/1.1'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'Host: status.campuspulse.example'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'Connection: close'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|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nc -w 5 127.0.0.1 8081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495294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495294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59054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933444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200 for this Host. Repeat with 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www.campuspulse.example</a:t>
            </a:r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Host: the same socket now returns 404.</a:t>
            </a:r>
            <a:endParaRPr lang="en-US" sz="225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795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177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B: write the HTTP bytes yourself</a:t>
            </a:r>
            <a:endParaRPr lang="en-US" sz="4177" dirty="0"/>
          </a:p>
        </p:txBody>
      </p:sp>
      <p:sp>
        <p:nvSpPr>
          <p:cNvPr id="7" name="Shape 5"/>
          <p:cNvSpPr/>
          <p:nvPr/>
        </p:nvSpPr>
        <p:spPr>
          <a:xfrm>
            <a:off x="685800" y="1616035"/>
            <a:ext cx="10820400" cy="3947393"/>
          </a:xfrm>
          <a:prstGeom prst="roundRect">
            <a:avLst>
              <a:gd name="adj" fmla="val 139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1603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3508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PowerShell - raw request; change only Host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65615"/>
            <a:ext cx="10439400" cy="3372083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[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Net.Sockets.TcpClient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]::new(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'127.0.0.1'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.ReceiveTimeout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.GetStream()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"GET /healthz HTTP/1.1`r`nHost: 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+=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"status.campuspulse.example`r`nConnection: close`r`n`r`n"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[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Text.Encoding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]::ASCII.GetBytes(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$req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.Write(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.Length)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[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IO.StreamReader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]::new(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).ReadToEnd()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finally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$c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.Dispose() 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raw-request lab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9112 §2.1, message format</a:t>
            </a:r>
            <a:endParaRPr lang="en-US" sz="12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repeat the Host experiment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366010"/>
          </a:xfrm>
          <a:prstGeom prst="roundRect">
            <a:avLst>
              <a:gd name="adj" fmla="val 231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same listener, same path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7907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'http://127.0.0.1:8081/healthz'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-i --max-time 5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'Host: status.campuspulse.example'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-i --max-time 5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'Host: www.campuspulse.example'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44518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44518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39768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82668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two responses are 200 then 404. Only the Host value changed; no DNS lookup was needed for the numeric destination.</a:t>
            </a:r>
            <a:endParaRPr lang="en-US" sz="2256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Repeat the Host experiment with curl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366010"/>
          </a:xfrm>
          <a:prstGeom prst="roundRect">
            <a:avLst>
              <a:gd name="adj" fmla="val 231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 - the same listener and path; only Host changes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7907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'http://127.0.0.1:8081/healthz'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'Host: status.campuspulse.example'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$url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'Host: www.campuspulse.example'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host-routing capture</a:t>
            </a:r>
            <a:endParaRPr lang="en-US" sz="127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follow the disappearing POST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366010"/>
          </a:xfrm>
          <a:prstGeom prst="roundRect">
            <a:avLst>
              <a:gd name="adj" fmla="val 231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synthetic requests only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7907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'http://127.0.0.1:8082'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-v -L --max-redirs 4 --max-time 5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-d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'service=library-wifi'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$base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/legacy/incidents"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-v --max-time 5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-d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'service=library-wifi'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$base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144518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144518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39768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582668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redirected request changes method and fails; the direct POST gets 201. Read the outgoing method at each hop.</a:t>
            </a:r>
            <a:endParaRPr lang="en-US" sz="2256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Reproduce the disappearing POST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366010"/>
          </a:xfrm>
          <a:prstGeom prst="roundRect">
            <a:avLst>
              <a:gd name="adj" fmla="val 231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 - synthetic request; no real incident is stored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790700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$base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'http://127.0.0.1:8082'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--max-redirs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'service=library-wifi'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$base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/legacy/incidents"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-v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'service=library-wifi'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$base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/api/incidents"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redirect and method capture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redirect behavior</a:t>
            </a:r>
            <a:endParaRPr lang="en-US" sz="127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Follow the request, not the success-shaped story</a:t>
            </a:r>
            <a:endParaRPr lang="en-US" sz="4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23516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fixture exchange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Result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Interpretation</a:t>
                      </a:r>
                      <a:endParaRPr lang="en-US" sz="18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Correct Host on port 8081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virtual host is configured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Unknown Host, same socket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404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DNS is not the changed variable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POST, then follow a 302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arrives; 405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Redirect behavior changed the method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Direct POST to the target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201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5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target accepts POST in this fixture</a:t>
                      </a:r>
                      <a:endParaRPr lang="en-US" sz="19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9110 §15.4.3, 302</a:t>
            </a:r>
            <a:pPr indent="0" marL="0">
              <a:buNone/>
            </a:pP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fault implementation</a:t>
            </a:r>
            <a:endParaRPr lang="en-US" sz="12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inspect the proxy mistake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HTTP-only local model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-I -L --max-redirs 3 --max-time 5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http://127.0.0.1:8084/healthz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--noproxy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-i --max-time 5 \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http://127.0.0.1:8083/healthz -H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'X-Forwarded-Proto: https'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19906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19906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15156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58056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path loops until curl stops; the corrected header reaches 200. This models a handoff, not real encryption.</a:t>
            </a:r>
            <a:endParaRPr lang="en-US" sz="2256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Locate the proxy's protocol-header mistake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 - HTTP-only local proxy model, not real TLS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--max-redirs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8084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http://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8083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'X-Forwarded-Proto: https'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proxy-header capture</a:t>
            </a:r>
            <a:endParaRPr lang="en-US" sz="12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stop, or use the recorded evidence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626108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261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451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macOS Terminal - Bash/zsh; repository root; offline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75688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samples=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'./weeks/week02/samples/http-faults'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/fault-1-host-header.txt"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/fault-2-redirect-chain.txt"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/fault-3-x-forwarded-proto.txt"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19906"/>
            <a:ext cx="10820400" cy="1629156"/>
          </a:xfrm>
          <a:prstGeom prst="roundRect">
            <a:avLst>
              <a:gd name="adj" fmla="val 280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19906"/>
            <a:ext cx="76200" cy="162915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15156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258056"/>
            <a:ext cx="10363200" cy="779313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Ctrl+C in Terminal A stops all four local listeners. No generated files or network settings need removal.</a:t>
            </a:r>
            <a:endParaRPr lang="en-US" sz="2256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Finish the demo or open the recorded evidence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223516"/>
            <a:ext cx="10820400" cy="2041398"/>
          </a:xfrm>
          <a:prstGeom prst="roundRect">
            <a:avLst>
              <a:gd name="adj" fmla="val 268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2351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4256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B - repository root; offline fallback</a:t>
            </a:r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73096"/>
            <a:ext cx="10439400" cy="1466088"/>
          </a:xfrm>
          <a:prstGeom prst="rect">
            <a:avLst/>
          </a:prstGeom>
          <a:noFill/>
          <a:ln/>
        </p:spPr>
        <p:txBody>
          <a:bodyPr wrap="none" rtlCol="0" anchor="t">
            <a:normAutofit/>
          </a:bodyPr>
          <a:lstStyle/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'.\weeks\week02\samples\http-faults'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\fault-1-host-header.txt"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\fault-2-redirect-chain.txt"</a:t>
            </a:r>
            <a:endParaRPr lang="en-US" sz="1800" dirty="0"/>
          </a:p>
          <a:p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$samples</a:t>
            </a:r>
            <a:pPr indent="0" marL="0">
              <a:lnSpc>
                <a:spcPct val="142000"/>
              </a:lnSpc>
              <a:buNone/>
            </a:pP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\fault-3-x-forwarded-proto.txt"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417314"/>
            <a:ext cx="10820400" cy="1214628"/>
          </a:xfrm>
          <a:prstGeom prst="roundRect">
            <a:avLst>
              <a:gd name="adj" fmla="val 376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17314"/>
            <a:ext cx="76200" cy="121462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12564"/>
            <a:ext cx="10363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855464"/>
            <a:ext cx="10363200" cy="38965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Press Ctrl+C in Terminal A; that stops all four local listeners.</a:t>
            </a:r>
            <a:endParaRPr lang="en-US" sz="2256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HTTP as a contract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47625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Solo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948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symptoms. Name the most likely cause and the one command that confirms it.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85800" y="3347466"/>
            <a:ext cx="10820400" cy="2225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returns 404;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shows the CNAME resolving correctly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client's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returns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2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but nothing is ever created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reports too many redirects;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3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against the app directly is fine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Font typeface="+mj-lt"/>
              <a:buAutoNum type="arabicPeriod" startAt="4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Logged-out users are being served a page with someone else's name on it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9110, HTTP Semantics</a:t>
            </a:r>
            <a:endParaRPr lang="en-US" sz="12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Individual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09817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039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Guided lab: trace, delegate, cut over, speak HTTP</a:t>
            </a:r>
            <a:endParaRPr lang="en-US" sz="4039" dirty="0"/>
          </a:p>
        </p:txBody>
      </p:sp>
      <p:sp>
        <p:nvSpPr>
          <p:cNvPr id="7" name="Text 5"/>
          <p:cNvSpPr/>
          <p:nvPr/>
        </p:nvSpPr>
        <p:spPr>
          <a:xfrm>
            <a:off x="685800" y="2122487"/>
            <a:ext cx="10820400" cy="245407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Now, 35 minutes: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your own domain — trace delegation with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+trace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add a real record, and watch a TTL count down</a:t>
            </a:r>
            <a:endParaRPr lang="en-US" sz="23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a cutover with a rollback plan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just a change</a:t>
            </a:r>
            <a:endParaRPr lang="en-US" sz="23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type an HTTP request by hand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read the response yourself</a:t>
            </a:r>
            <a:endParaRPr lang="en-US" sz="2308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Evidence, not a screenshot: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3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four of five parts feed HW2 directly — save everything as you go</a:t>
            </a:r>
            <a:endParaRPr lang="en-US" sz="2308" dirty="0"/>
          </a:p>
        </p:txBody>
      </p:sp>
      <p:sp>
        <p:nvSpPr>
          <p:cNvPr id="8" name="Shape 6"/>
          <p:cNvSpPr/>
          <p:nvPr/>
        </p:nvSpPr>
        <p:spPr>
          <a:xfrm>
            <a:off x="685800" y="4704799"/>
            <a:ext cx="10820400" cy="1130346"/>
          </a:xfrm>
          <a:prstGeom prst="roundRect">
            <a:avLst>
              <a:gd name="adj" fmla="val 404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704799"/>
            <a:ext cx="76200" cy="113034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800049"/>
            <a:ext cx="10363200" cy="256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5133451"/>
            <a:ext cx="10363200" cy="37471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21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instructions and setup checklist: </a:t>
            </a:r>
            <a:pPr algn="l" indent="0" marL="0">
              <a:lnSpc>
                <a:spcPct val="136000"/>
              </a:lnSpc>
              <a:buNone/>
            </a:pPr>
            <a:r>
              <a:rPr lang="en-US" sz="2169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lab.md</a:t>
            </a:r>
            <a:pPr algn="l" indent="0" marL="0">
              <a:lnSpc>
                <a:spcPct val="136000"/>
              </a:lnSpc>
              <a:buNone/>
            </a:pPr>
            <a:r>
              <a:rPr lang="en-US" sz="21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2169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45517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7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HW2: Zone Build and HTTP Forensics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685800" y="1470262"/>
            <a:ext cx="10820400" cy="27124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Purpose: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operate the domain you bought in HW1 — configure it deliberately, change it on a plan, diagnose it from evidence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 annotated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 +trace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 exported zone file with a rationale per record, and an apex-vs-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decision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resolution proven from two resolvers, an executed TTL cutover with rollback, and three diagnosed HTTP failures</a:t>
            </a:r>
            <a:endParaRPr lang="en-US" sz="2114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handout and rubric: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homework.md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11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due before Week 3</a:t>
            </a:r>
            <a:endParaRPr lang="en-US" sz="2114" dirty="0"/>
          </a:p>
        </p:txBody>
      </p:sp>
      <p:sp>
        <p:nvSpPr>
          <p:cNvPr id="8" name="Shape 6"/>
          <p:cNvSpPr/>
          <p:nvPr/>
        </p:nvSpPr>
        <p:spPr>
          <a:xfrm>
            <a:off x="685800" y="4300213"/>
            <a:ext cx="10820400" cy="1280541"/>
          </a:xfrm>
          <a:prstGeom prst="roundRect">
            <a:avLst>
              <a:gd name="adj" fmla="val 3570"/>
            </a:avLst>
          </a:prstGeom>
          <a:solidFill>
            <a:srgbClr val="10321F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00213"/>
            <a:ext cx="76200" cy="1280541"/>
          </a:xfrm>
          <a:prstGeom prst="rect">
            <a:avLst/>
          </a:prstGeom>
          <a:solidFill>
            <a:srgbClr val="86EF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95463"/>
            <a:ext cx="10363200" cy="2349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86EFA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✦  TIP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708864"/>
            <a:ext cx="10363200" cy="68648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987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tonight — the cutover task has a mandatory wait of at least one TTL, not just active work.</a:t>
            </a:r>
            <a:endParaRPr lang="en-US" sz="1987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HW2 handout</a:t>
            </a:r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evidence standard</a:t>
            </a:r>
            <a:endParaRPr lang="en-US" sz="12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W02·C</a:t>
            </a:r>
            <a:pPr indent="0" marL="0">
              <a:buNone/>
            </a:pP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pPr algn="r"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31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974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626108"/>
            <a:ext cx="10820400" cy="356006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ticket: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sentence — which cache in tonight's evidence surprised you most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Week 3 class: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complete the 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3 prep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items 1–6, about 57 minutes, plus the tooling checklist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logistics question we didn't reach: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discussion board, not a hallway guess</a:t>
            </a:r>
            <a:endParaRPr lang="en-US" sz="2400" dirty="0"/>
          </a:p>
          <a:p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week:</a:t>
            </a:r>
            <a:pPr algn="l" marL="342900" indent="-342900">
              <a:lnSpc>
                <a:spcPct val="146000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what the AI writes — reading TypeScript, React, and containers as a reviewer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 as a contract — Week 2 Block C</dc:title>
  <dc:subject>Methods, status codes, and the handful of headers that decide whether your request means anything</dc:subject>
  <dc:creator>Course staff</dc:creator>
  <cp:lastModifiedBy>Course staff</cp:lastModifiedBy>
  <cp:revision>1</cp:revision>
  <dcterms:created xsi:type="dcterms:W3CDTF">2026-09-10T19:41:44Z</dcterms:created>
  <dcterms:modified xsi:type="dcterms:W3CDTF">2026-09-10T19:41:44Z</dcterms:modified>
</cp:coreProperties>
</file>